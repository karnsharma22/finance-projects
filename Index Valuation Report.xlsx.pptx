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8" r:id="rId2"/>
    <p:sldId id="257" r:id="rId3"/>
    <p:sldId id="260" r:id="rId4"/>
    <p:sldId id="269" r:id="rId5"/>
    <p:sldId id="270" r:id="rId6"/>
    <p:sldId id="261" r:id="rId7"/>
    <p:sldId id="271" r:id="rId8"/>
    <p:sldId id="262" r:id="rId9"/>
    <p:sldId id="265" r:id="rId10"/>
    <p:sldId id="266" r:id="rId11"/>
    <p:sldId id="267" r:id="rId12"/>
    <p:sldId id="272" r:id="rId13"/>
    <p:sldId id="263" r:id="rId14"/>
    <p:sldId id="27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5A9A0-FF1C-4497-BFA6-65E6F90942C0}" v="82" dt="2026-01-14T06:07:28.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n Sharma" userId="1d302b6f3a083292" providerId="LiveId" clId="{3DC74ADF-01F4-4F5B-8376-AF2C50065AC6}"/>
    <pc:docChg chg="undo custSel addSld delSld modSld sldOrd">
      <pc:chgData name="Karn Sharma" userId="1d302b6f3a083292" providerId="LiveId" clId="{3DC74ADF-01F4-4F5B-8376-AF2C50065AC6}" dt="2026-01-14T06:11:05.502" v="5504" actId="20577"/>
      <pc:docMkLst>
        <pc:docMk/>
      </pc:docMkLst>
      <pc:sldChg chg="addSp delSp modSp mod">
        <pc:chgData name="Karn Sharma" userId="1d302b6f3a083292" providerId="LiveId" clId="{3DC74ADF-01F4-4F5B-8376-AF2C50065AC6}" dt="2026-01-14T06:04:34.898" v="5403" actId="207"/>
        <pc:sldMkLst>
          <pc:docMk/>
          <pc:sldMk cId="3277719120" sldId="257"/>
        </pc:sldMkLst>
        <pc:spChg chg="mod">
          <ac:chgData name="Karn Sharma" userId="1d302b6f3a083292" providerId="LiveId" clId="{3DC74ADF-01F4-4F5B-8376-AF2C50065AC6}" dt="2026-01-06T09:15:30.381" v="2904" actId="2711"/>
          <ac:spMkLst>
            <pc:docMk/>
            <pc:sldMk cId="3277719120" sldId="257"/>
            <ac:spMk id="3" creationId="{24733AFF-AFCF-28EB-B172-30963569C0B4}"/>
          </ac:spMkLst>
        </pc:spChg>
        <pc:graphicFrameChg chg="add mod modGraphic">
          <ac:chgData name="Karn Sharma" userId="1d302b6f3a083292" providerId="LiveId" clId="{3DC74ADF-01F4-4F5B-8376-AF2C50065AC6}" dt="2026-01-14T06:04:34.898" v="5403" actId="207"/>
          <ac:graphicFrameMkLst>
            <pc:docMk/>
            <pc:sldMk cId="3277719120" sldId="257"/>
            <ac:graphicFrameMk id="5" creationId="{DDEE0F4E-C2A3-DCBF-800D-4418A5C86500}"/>
          </ac:graphicFrameMkLst>
        </pc:graphicFrameChg>
      </pc:sldChg>
      <pc:sldChg chg="addSp delSp modSp mod">
        <pc:chgData name="Karn Sharma" userId="1d302b6f3a083292" providerId="LiveId" clId="{3DC74ADF-01F4-4F5B-8376-AF2C50065AC6}" dt="2026-01-13T10:30:00.371" v="4813" actId="1038"/>
        <pc:sldMkLst>
          <pc:docMk/>
          <pc:sldMk cId="2725762886" sldId="260"/>
        </pc:sldMkLst>
        <pc:spChg chg="mod">
          <ac:chgData name="Karn Sharma" userId="1d302b6f3a083292" providerId="LiveId" clId="{3DC74ADF-01F4-4F5B-8376-AF2C50065AC6}" dt="2026-01-06T09:15:37.413" v="2905" actId="2711"/>
          <ac:spMkLst>
            <pc:docMk/>
            <pc:sldMk cId="2725762886" sldId="260"/>
            <ac:spMk id="3" creationId="{F6CD00A1-FC4F-6918-AC6D-F342BC2F2553}"/>
          </ac:spMkLst>
        </pc:spChg>
        <pc:spChg chg="mod">
          <ac:chgData name="Karn Sharma" userId="1d302b6f3a083292" providerId="LiveId" clId="{3DC74ADF-01F4-4F5B-8376-AF2C50065AC6}" dt="2026-01-13T10:29:21.104" v="4801" actId="20577"/>
          <ac:spMkLst>
            <pc:docMk/>
            <pc:sldMk cId="2725762886" sldId="260"/>
            <ac:spMk id="6" creationId="{0E0060C4-00CC-0BE4-D4C0-E08150F0D6D9}"/>
          </ac:spMkLst>
        </pc:spChg>
        <pc:picChg chg="add del mod">
          <ac:chgData name="Karn Sharma" userId="1d302b6f3a083292" providerId="LiveId" clId="{3DC74ADF-01F4-4F5B-8376-AF2C50065AC6}" dt="2026-01-13T08:10:33.439" v="3145" actId="478"/>
          <ac:picMkLst>
            <pc:docMk/>
            <pc:sldMk cId="2725762886" sldId="260"/>
            <ac:picMk id="5" creationId="{6A81A239-6E8B-D14B-9557-9B742197B3AA}"/>
          </ac:picMkLst>
        </pc:picChg>
        <pc:picChg chg="add del mod">
          <ac:chgData name="Karn Sharma" userId="1d302b6f3a083292" providerId="LiveId" clId="{3DC74ADF-01F4-4F5B-8376-AF2C50065AC6}" dt="2026-01-13T08:10:55.757" v="3148" actId="478"/>
          <ac:picMkLst>
            <pc:docMk/>
            <pc:sldMk cId="2725762886" sldId="260"/>
            <ac:picMk id="8" creationId="{0E397C68-3098-CAF7-71D9-AB247FFB3FF8}"/>
          </ac:picMkLst>
        </pc:picChg>
        <pc:picChg chg="add mod modCrop">
          <ac:chgData name="Karn Sharma" userId="1d302b6f3a083292" providerId="LiveId" clId="{3DC74ADF-01F4-4F5B-8376-AF2C50065AC6}" dt="2026-01-13T10:30:00.371" v="4813" actId="1038"/>
          <ac:picMkLst>
            <pc:docMk/>
            <pc:sldMk cId="2725762886" sldId="260"/>
            <ac:picMk id="10" creationId="{7127355B-092A-B3D9-E9DA-403AE183AB1F}"/>
          </ac:picMkLst>
        </pc:picChg>
      </pc:sldChg>
      <pc:sldChg chg="addSp delSp modSp mod">
        <pc:chgData name="Karn Sharma" userId="1d302b6f3a083292" providerId="LiveId" clId="{3DC74ADF-01F4-4F5B-8376-AF2C50065AC6}" dt="2026-01-13T10:28:58.259" v="4798" actId="123"/>
        <pc:sldMkLst>
          <pc:docMk/>
          <pc:sldMk cId="3041571630" sldId="261"/>
        </pc:sldMkLst>
        <pc:spChg chg="mod">
          <ac:chgData name="Karn Sharma" userId="1d302b6f3a083292" providerId="LiveId" clId="{3DC74ADF-01F4-4F5B-8376-AF2C50065AC6}" dt="2026-01-06T09:15:41.403" v="2906" actId="2711"/>
          <ac:spMkLst>
            <pc:docMk/>
            <pc:sldMk cId="3041571630" sldId="261"/>
            <ac:spMk id="3" creationId="{ED079480-5DA8-4DF0-CB26-CA1C5DF67F76}"/>
          </ac:spMkLst>
        </pc:spChg>
        <pc:spChg chg="add mod">
          <ac:chgData name="Karn Sharma" userId="1d302b6f3a083292" providerId="LiveId" clId="{3DC74ADF-01F4-4F5B-8376-AF2C50065AC6}" dt="2026-01-13T10:28:58.259" v="4798" actId="123"/>
          <ac:spMkLst>
            <pc:docMk/>
            <pc:sldMk cId="3041571630" sldId="261"/>
            <ac:spMk id="5" creationId="{434BD8FC-EFE0-D1C3-3CBC-862ECF16AF9D}"/>
          </ac:spMkLst>
        </pc:spChg>
        <pc:graphicFrameChg chg="add mod modGraphic">
          <ac:chgData name="Karn Sharma" userId="1d302b6f3a083292" providerId="LiveId" clId="{3DC74ADF-01F4-4F5B-8376-AF2C50065AC6}" dt="2026-01-06T09:20:07.955" v="2934" actId="2062"/>
          <ac:graphicFrameMkLst>
            <pc:docMk/>
            <pc:sldMk cId="3041571630" sldId="261"/>
            <ac:graphicFrameMk id="8" creationId="{B8A4FBD3-0720-4407-CAD7-E0556D15763F}"/>
          </ac:graphicFrameMkLst>
        </pc:graphicFrameChg>
      </pc:sldChg>
      <pc:sldChg chg="modSp mod">
        <pc:chgData name="Karn Sharma" userId="1d302b6f3a083292" providerId="LiveId" clId="{3DC74ADF-01F4-4F5B-8376-AF2C50065AC6}" dt="2026-01-14T06:03:51.629" v="5401" actId="113"/>
        <pc:sldMkLst>
          <pc:docMk/>
          <pc:sldMk cId="1709195814" sldId="262"/>
        </pc:sldMkLst>
        <pc:spChg chg="mod">
          <ac:chgData name="Karn Sharma" userId="1d302b6f3a083292" providerId="LiveId" clId="{3DC74ADF-01F4-4F5B-8376-AF2C50065AC6}" dt="2026-01-06T09:15:46.560" v="2907" actId="2711"/>
          <ac:spMkLst>
            <pc:docMk/>
            <pc:sldMk cId="1709195814" sldId="262"/>
            <ac:spMk id="3" creationId="{9AEAFC4A-E58C-9EA3-006E-437EFD7DF8D1}"/>
          </ac:spMkLst>
        </pc:spChg>
        <pc:spChg chg="mod">
          <ac:chgData name="Karn Sharma" userId="1d302b6f3a083292" providerId="LiveId" clId="{3DC74ADF-01F4-4F5B-8376-AF2C50065AC6}" dt="2026-01-13T10:28:52.483" v="4797" actId="123"/>
          <ac:spMkLst>
            <pc:docMk/>
            <pc:sldMk cId="1709195814" sldId="262"/>
            <ac:spMk id="6" creationId="{A809EE43-49F3-5B16-F087-980BF6C48ED9}"/>
          </ac:spMkLst>
        </pc:spChg>
        <pc:graphicFrameChg chg="mod modGraphic">
          <ac:chgData name="Karn Sharma" userId="1d302b6f3a083292" providerId="LiveId" clId="{3DC74ADF-01F4-4F5B-8376-AF2C50065AC6}" dt="2026-01-14T06:03:51.629" v="5401" actId="113"/>
          <ac:graphicFrameMkLst>
            <pc:docMk/>
            <pc:sldMk cId="1709195814" sldId="262"/>
            <ac:graphicFrameMk id="4" creationId="{1D8D46F1-D461-5448-0620-242372244E3F}"/>
          </ac:graphicFrameMkLst>
        </pc:graphicFrameChg>
        <pc:graphicFrameChg chg="mod">
          <ac:chgData name="Karn Sharma" userId="1d302b6f3a083292" providerId="LiveId" clId="{3DC74ADF-01F4-4F5B-8376-AF2C50065AC6}" dt="2026-01-06T09:20:44.956" v="2936" actId="113"/>
          <ac:graphicFrameMkLst>
            <pc:docMk/>
            <pc:sldMk cId="1709195814" sldId="262"/>
            <ac:graphicFrameMk id="5" creationId="{5B9643DA-DAD1-4788-BB1C-ECCD39E12AE5}"/>
          </ac:graphicFrameMkLst>
        </pc:graphicFrameChg>
      </pc:sldChg>
      <pc:sldChg chg="addSp delSp modSp mod">
        <pc:chgData name="Karn Sharma" userId="1d302b6f3a083292" providerId="LiveId" clId="{3DC74ADF-01F4-4F5B-8376-AF2C50065AC6}" dt="2026-01-14T06:09:58.702" v="5479" actId="1076"/>
        <pc:sldMkLst>
          <pc:docMk/>
          <pc:sldMk cId="588709768" sldId="263"/>
        </pc:sldMkLst>
        <pc:spChg chg="mod">
          <ac:chgData name="Karn Sharma" userId="1d302b6f3a083292" providerId="LiveId" clId="{3DC74ADF-01F4-4F5B-8376-AF2C50065AC6}" dt="2026-01-06T07:05:34.873" v="2271" actId="12788"/>
          <ac:spMkLst>
            <pc:docMk/>
            <pc:sldMk cId="588709768" sldId="263"/>
            <ac:spMk id="2" creationId="{CEEF1739-79A4-BFF1-8084-856454520965}"/>
          </ac:spMkLst>
        </pc:spChg>
        <pc:spChg chg="mod">
          <ac:chgData name="Karn Sharma" userId="1d302b6f3a083292" providerId="LiveId" clId="{3DC74ADF-01F4-4F5B-8376-AF2C50065AC6}" dt="2026-01-13T10:40:18.038" v="5066" actId="14100"/>
          <ac:spMkLst>
            <pc:docMk/>
            <pc:sldMk cId="588709768" sldId="263"/>
            <ac:spMk id="3" creationId="{CFA5F9C1-7C20-01DF-8CF8-8A566E2EFB20}"/>
          </ac:spMkLst>
        </pc:spChg>
        <pc:spChg chg="add mod">
          <ac:chgData name="Karn Sharma" userId="1d302b6f3a083292" providerId="LiveId" clId="{3DC74ADF-01F4-4F5B-8376-AF2C50065AC6}" dt="2026-01-14T06:09:58.702" v="5479" actId="1076"/>
          <ac:spMkLst>
            <pc:docMk/>
            <pc:sldMk cId="588709768" sldId="263"/>
            <ac:spMk id="5" creationId="{929DB6D6-F2CB-AB13-9D8C-EBB28A1F2336}"/>
          </ac:spMkLst>
        </pc:spChg>
        <pc:spChg chg="add mod">
          <ac:chgData name="Karn Sharma" userId="1d302b6f3a083292" providerId="LiveId" clId="{3DC74ADF-01F4-4F5B-8376-AF2C50065AC6}" dt="2026-01-13T10:47:04.388" v="5395" actId="14100"/>
          <ac:spMkLst>
            <pc:docMk/>
            <pc:sldMk cId="588709768" sldId="263"/>
            <ac:spMk id="6" creationId="{B42040F0-44FA-CF3A-DD80-59C5F9A3AB67}"/>
          </ac:spMkLst>
        </pc:spChg>
        <pc:graphicFrameChg chg="mod">
          <ac:chgData name="Karn Sharma" userId="1d302b6f3a083292" providerId="LiveId" clId="{3DC74ADF-01F4-4F5B-8376-AF2C50065AC6}" dt="2026-01-14T06:03:05.362" v="5397" actId="1076"/>
          <ac:graphicFrameMkLst>
            <pc:docMk/>
            <pc:sldMk cId="588709768" sldId="263"/>
            <ac:graphicFrameMk id="4" creationId="{B7060374-CC81-1C20-04BE-2A054F27F2BF}"/>
          </ac:graphicFrameMkLst>
        </pc:graphicFrameChg>
        <pc:graphicFrameChg chg="del mod modGraphic">
          <ac:chgData name="Karn Sharma" userId="1d302b6f3a083292" providerId="LiveId" clId="{3DC74ADF-01F4-4F5B-8376-AF2C50065AC6}" dt="2026-01-13T10:37:24.019" v="5054" actId="478"/>
          <ac:graphicFrameMkLst>
            <pc:docMk/>
            <pc:sldMk cId="588709768" sldId="263"/>
            <ac:graphicFrameMk id="8" creationId="{A325ADBF-E371-7CBC-08F3-6DD58AB50D46}"/>
          </ac:graphicFrameMkLst>
        </pc:graphicFrameChg>
      </pc:sldChg>
      <pc:sldChg chg="addSp modSp mod">
        <pc:chgData name="Karn Sharma" userId="1d302b6f3a083292" providerId="LiveId" clId="{3DC74ADF-01F4-4F5B-8376-AF2C50065AC6}" dt="2026-01-06T09:23:49.287" v="2955" actId="2711"/>
        <pc:sldMkLst>
          <pc:docMk/>
          <pc:sldMk cId="2563087013" sldId="264"/>
        </pc:sldMkLst>
        <pc:spChg chg="mod">
          <ac:chgData name="Karn Sharma" userId="1d302b6f3a083292" providerId="LiveId" clId="{3DC74ADF-01F4-4F5B-8376-AF2C50065AC6}" dt="2026-01-06T09:16:10.053" v="2912" actId="14100"/>
          <ac:spMkLst>
            <pc:docMk/>
            <pc:sldMk cId="2563087013" sldId="264"/>
            <ac:spMk id="3" creationId="{B0C6A6D1-3FDC-65A8-4CE0-090A194C737A}"/>
          </ac:spMkLst>
        </pc:spChg>
        <pc:spChg chg="add mod">
          <ac:chgData name="Karn Sharma" userId="1d302b6f3a083292" providerId="LiveId" clId="{3DC74ADF-01F4-4F5B-8376-AF2C50065AC6}" dt="2026-01-06T09:23:49.287" v="2955" actId="2711"/>
          <ac:spMkLst>
            <pc:docMk/>
            <pc:sldMk cId="2563087013" sldId="264"/>
            <ac:spMk id="4" creationId="{101C340F-59AA-710D-E0D5-491654A9F2AB}"/>
          </ac:spMkLst>
        </pc:spChg>
      </pc:sldChg>
      <pc:sldChg chg="modSp mod">
        <pc:chgData name="Karn Sharma" userId="1d302b6f3a083292" providerId="LiveId" clId="{3DC74ADF-01F4-4F5B-8376-AF2C50065AC6}" dt="2026-01-14T06:03:42.318" v="5400" actId="113"/>
        <pc:sldMkLst>
          <pc:docMk/>
          <pc:sldMk cId="2857979133" sldId="265"/>
        </pc:sldMkLst>
        <pc:spChg chg="mod">
          <ac:chgData name="Karn Sharma" userId="1d302b6f3a083292" providerId="LiveId" clId="{3DC74ADF-01F4-4F5B-8376-AF2C50065AC6}" dt="2026-01-13T10:27:35.547" v="4747" actId="2711"/>
          <ac:spMkLst>
            <pc:docMk/>
            <pc:sldMk cId="2857979133" sldId="265"/>
            <ac:spMk id="3" creationId="{5246E5B0-33DD-EAB1-99AD-AC98ECEE5C61}"/>
          </ac:spMkLst>
        </pc:spChg>
        <pc:spChg chg="mod">
          <ac:chgData name="Karn Sharma" userId="1d302b6f3a083292" providerId="LiveId" clId="{3DC74ADF-01F4-4F5B-8376-AF2C50065AC6}" dt="2026-01-13T10:28:43.754" v="4796" actId="123"/>
          <ac:spMkLst>
            <pc:docMk/>
            <pc:sldMk cId="2857979133" sldId="265"/>
            <ac:spMk id="6" creationId="{27DB454C-64A2-23FC-A494-3F57F9514B84}"/>
          </ac:spMkLst>
        </pc:spChg>
        <pc:graphicFrameChg chg="mod modGraphic">
          <ac:chgData name="Karn Sharma" userId="1d302b6f3a083292" providerId="LiveId" clId="{3DC74ADF-01F4-4F5B-8376-AF2C50065AC6}" dt="2026-01-14T06:03:42.318" v="5400" actId="113"/>
          <ac:graphicFrameMkLst>
            <pc:docMk/>
            <pc:sldMk cId="2857979133" sldId="265"/>
            <ac:graphicFrameMk id="4" creationId="{86375259-2398-FF4F-FDBF-446C97CA53BA}"/>
          </ac:graphicFrameMkLst>
        </pc:graphicFrameChg>
        <pc:graphicFrameChg chg="mod">
          <ac:chgData name="Karn Sharma" userId="1d302b6f3a083292" providerId="LiveId" clId="{3DC74ADF-01F4-4F5B-8376-AF2C50065AC6}" dt="2026-01-06T09:32:55.173" v="3013" actId="207"/>
          <ac:graphicFrameMkLst>
            <pc:docMk/>
            <pc:sldMk cId="2857979133" sldId="265"/>
            <ac:graphicFrameMk id="7" creationId="{6378EC8C-F556-4EDD-837A-F64A5FEAC61D}"/>
          </ac:graphicFrameMkLst>
        </pc:graphicFrameChg>
      </pc:sldChg>
      <pc:sldChg chg="modSp mod">
        <pc:chgData name="Karn Sharma" userId="1d302b6f3a083292" providerId="LiveId" clId="{3DC74ADF-01F4-4F5B-8376-AF2C50065AC6}" dt="2026-01-14T06:03:24.188" v="5399" actId="113"/>
        <pc:sldMkLst>
          <pc:docMk/>
          <pc:sldMk cId="1473245057" sldId="266"/>
        </pc:sldMkLst>
        <pc:spChg chg="mod">
          <ac:chgData name="Karn Sharma" userId="1d302b6f3a083292" providerId="LiveId" clId="{3DC74ADF-01F4-4F5B-8376-AF2C50065AC6}" dt="2026-01-06T09:15:52.217" v="2908" actId="2711"/>
          <ac:spMkLst>
            <pc:docMk/>
            <pc:sldMk cId="1473245057" sldId="266"/>
            <ac:spMk id="3" creationId="{3D2A0A12-9DE8-2573-1215-6DE91F3B8675}"/>
          </ac:spMkLst>
        </pc:spChg>
        <pc:spChg chg="mod">
          <ac:chgData name="Karn Sharma" userId="1d302b6f3a083292" providerId="LiveId" clId="{3DC74ADF-01F4-4F5B-8376-AF2C50065AC6}" dt="2026-01-13T10:32:33.752" v="4838" actId="20577"/>
          <ac:spMkLst>
            <pc:docMk/>
            <pc:sldMk cId="1473245057" sldId="266"/>
            <ac:spMk id="6" creationId="{97628354-E0A2-2E1C-4568-1A548AD5BD05}"/>
          </ac:spMkLst>
        </pc:spChg>
        <pc:graphicFrameChg chg="mod modGraphic">
          <ac:chgData name="Karn Sharma" userId="1d302b6f3a083292" providerId="LiveId" clId="{3DC74ADF-01F4-4F5B-8376-AF2C50065AC6}" dt="2026-01-14T06:03:24.188" v="5399" actId="113"/>
          <ac:graphicFrameMkLst>
            <pc:docMk/>
            <pc:sldMk cId="1473245057" sldId="266"/>
            <ac:graphicFrameMk id="8" creationId="{51FBACD3-B0D4-E119-964D-05F408CCAE62}"/>
          </ac:graphicFrameMkLst>
        </pc:graphicFrameChg>
        <pc:graphicFrameChg chg="mod">
          <ac:chgData name="Karn Sharma" userId="1d302b6f3a083292" providerId="LiveId" clId="{3DC74ADF-01F4-4F5B-8376-AF2C50065AC6}" dt="2026-01-06T09:33:01.346" v="3014" actId="207"/>
          <ac:graphicFrameMkLst>
            <pc:docMk/>
            <pc:sldMk cId="1473245057" sldId="266"/>
            <ac:graphicFrameMk id="9" creationId="{58044D22-52B9-5FA3-89E4-5ADBE0FD9C18}"/>
          </ac:graphicFrameMkLst>
        </pc:graphicFrameChg>
      </pc:sldChg>
      <pc:sldChg chg="modSp mod">
        <pc:chgData name="Karn Sharma" userId="1d302b6f3a083292" providerId="LiveId" clId="{3DC74ADF-01F4-4F5B-8376-AF2C50065AC6}" dt="2026-01-14T06:03:15.764" v="5398" actId="113"/>
        <pc:sldMkLst>
          <pc:docMk/>
          <pc:sldMk cId="2883479606" sldId="267"/>
        </pc:sldMkLst>
        <pc:spChg chg="mod">
          <ac:chgData name="Karn Sharma" userId="1d302b6f3a083292" providerId="LiveId" clId="{3DC74ADF-01F4-4F5B-8376-AF2C50065AC6}" dt="2026-01-06T09:15:58.401" v="2909" actId="2711"/>
          <ac:spMkLst>
            <pc:docMk/>
            <pc:sldMk cId="2883479606" sldId="267"/>
            <ac:spMk id="3" creationId="{61CB3E74-E617-9AF9-16E7-2A1DE4857DB7}"/>
          </ac:spMkLst>
        </pc:spChg>
        <pc:spChg chg="mod">
          <ac:chgData name="Karn Sharma" userId="1d302b6f3a083292" providerId="LiveId" clId="{3DC74ADF-01F4-4F5B-8376-AF2C50065AC6}" dt="2026-01-13T10:39:02.931" v="5058" actId="20577"/>
          <ac:spMkLst>
            <pc:docMk/>
            <pc:sldMk cId="2883479606" sldId="267"/>
            <ac:spMk id="6" creationId="{0F0897D1-BD01-79FD-BC32-372B517A50C0}"/>
          </ac:spMkLst>
        </pc:spChg>
        <pc:graphicFrameChg chg="mod">
          <ac:chgData name="Karn Sharma" userId="1d302b6f3a083292" providerId="LiveId" clId="{3DC74ADF-01F4-4F5B-8376-AF2C50065AC6}" dt="2026-01-06T09:33:06.617" v="3015" actId="207"/>
          <ac:graphicFrameMkLst>
            <pc:docMk/>
            <pc:sldMk cId="2883479606" sldId="267"/>
            <ac:graphicFrameMk id="4" creationId="{3795275A-4573-453C-86AE-700260E8A7E4}"/>
          </ac:graphicFrameMkLst>
        </pc:graphicFrameChg>
        <pc:graphicFrameChg chg="mod modGraphic">
          <ac:chgData name="Karn Sharma" userId="1d302b6f3a083292" providerId="LiveId" clId="{3DC74ADF-01F4-4F5B-8376-AF2C50065AC6}" dt="2026-01-14T06:03:15.764" v="5398" actId="113"/>
          <ac:graphicFrameMkLst>
            <pc:docMk/>
            <pc:sldMk cId="2883479606" sldId="267"/>
            <ac:graphicFrameMk id="8" creationId="{862E679F-6313-3739-315D-E14CB929CEC0}"/>
          </ac:graphicFrameMkLst>
        </pc:graphicFrameChg>
      </pc:sldChg>
      <pc:sldChg chg="addSp delSp modSp new mod ord modClrScheme chgLayout">
        <pc:chgData name="Karn Sharma" userId="1d302b6f3a083292" providerId="LiveId" clId="{3DC74ADF-01F4-4F5B-8376-AF2C50065AC6}" dt="2026-01-06T09:31:14.896" v="3009" actId="1035"/>
        <pc:sldMkLst>
          <pc:docMk/>
          <pc:sldMk cId="3850435977" sldId="268"/>
        </pc:sldMkLst>
        <pc:spChg chg="add mod">
          <ac:chgData name="Karn Sharma" userId="1d302b6f3a083292" providerId="LiveId" clId="{3DC74ADF-01F4-4F5B-8376-AF2C50065AC6}" dt="2026-01-06T09:30:49.796" v="2976" actId="1036"/>
          <ac:spMkLst>
            <pc:docMk/>
            <pc:sldMk cId="3850435977" sldId="268"/>
            <ac:spMk id="2" creationId="{9B841FA5-288D-47FD-0D64-6B01B3FBE865}"/>
          </ac:spMkLst>
        </pc:spChg>
        <pc:spChg chg="add mod">
          <ac:chgData name="Karn Sharma" userId="1d302b6f3a083292" providerId="LiveId" clId="{3DC74ADF-01F4-4F5B-8376-AF2C50065AC6}" dt="2026-01-06T09:31:09.419" v="3005" actId="1036"/>
          <ac:spMkLst>
            <pc:docMk/>
            <pc:sldMk cId="3850435977" sldId="268"/>
            <ac:spMk id="3" creationId="{6BC22320-A7AB-8604-1B30-E63E9A92F743}"/>
          </ac:spMkLst>
        </pc:spChg>
        <pc:spChg chg="add mod">
          <ac:chgData name="Karn Sharma" userId="1d302b6f3a083292" providerId="LiveId" clId="{3DC74ADF-01F4-4F5B-8376-AF2C50065AC6}" dt="2026-01-06T09:31:14.896" v="3009" actId="1035"/>
          <ac:spMkLst>
            <pc:docMk/>
            <pc:sldMk cId="3850435977" sldId="268"/>
            <ac:spMk id="4" creationId="{995B82B0-FFD4-6FD7-B1D9-CDB4801422CC}"/>
          </ac:spMkLst>
        </pc:spChg>
        <pc:spChg chg="add mod ord">
          <ac:chgData name="Karn Sharma" userId="1d302b6f3a083292" providerId="LiveId" clId="{3DC74ADF-01F4-4F5B-8376-AF2C50065AC6}" dt="2026-01-06T09:30:39.999" v="2959" actId="1076"/>
          <ac:spMkLst>
            <pc:docMk/>
            <pc:sldMk cId="3850435977" sldId="268"/>
            <ac:spMk id="6" creationId="{7E0E9115-FC15-6AC1-2186-862879803200}"/>
          </ac:spMkLst>
        </pc:spChg>
      </pc:sldChg>
      <pc:sldChg chg="modSp add mod">
        <pc:chgData name="Karn Sharma" userId="1d302b6f3a083292" providerId="LiveId" clId="{3DC74ADF-01F4-4F5B-8376-AF2C50065AC6}" dt="2026-01-14T06:08:44.747" v="5439" actId="113"/>
        <pc:sldMkLst>
          <pc:docMk/>
          <pc:sldMk cId="2054306470" sldId="269"/>
        </pc:sldMkLst>
        <pc:spChg chg="mod">
          <ac:chgData name="Karn Sharma" userId="1d302b6f3a083292" providerId="LiveId" clId="{3DC74ADF-01F4-4F5B-8376-AF2C50065AC6}" dt="2026-01-14T06:08:44.747" v="5439" actId="113"/>
          <ac:spMkLst>
            <pc:docMk/>
            <pc:sldMk cId="2054306470" sldId="269"/>
            <ac:spMk id="6" creationId="{428528E1-C847-78CA-C41E-B0B7B458FB08}"/>
          </ac:spMkLst>
        </pc:spChg>
      </pc:sldChg>
      <pc:sldChg chg="modSp add mod">
        <pc:chgData name="Karn Sharma" userId="1d302b6f3a083292" providerId="LiveId" clId="{3DC74ADF-01F4-4F5B-8376-AF2C50065AC6}" dt="2026-01-14T06:06:09.090" v="5421" actId="207"/>
        <pc:sldMkLst>
          <pc:docMk/>
          <pc:sldMk cId="4058136172" sldId="270"/>
        </pc:sldMkLst>
        <pc:graphicFrameChg chg="mod modGraphic">
          <ac:chgData name="Karn Sharma" userId="1d302b6f3a083292" providerId="LiveId" clId="{3DC74ADF-01F4-4F5B-8376-AF2C50065AC6}" dt="2026-01-14T06:06:09.090" v="5421" actId="207"/>
          <ac:graphicFrameMkLst>
            <pc:docMk/>
            <pc:sldMk cId="4058136172" sldId="270"/>
            <ac:graphicFrameMk id="5" creationId="{6B7EC7DA-BBD3-D7CB-7169-ACF72D17DEA6}"/>
          </ac:graphicFrameMkLst>
        </pc:graphicFrameChg>
      </pc:sldChg>
      <pc:sldChg chg="modSp add mod">
        <pc:chgData name="Karn Sharma" userId="1d302b6f3a083292" providerId="LiveId" clId="{3DC74ADF-01F4-4F5B-8376-AF2C50065AC6}" dt="2026-01-14T06:06:47.919" v="5426" actId="207"/>
        <pc:sldMkLst>
          <pc:docMk/>
          <pc:sldMk cId="1326944191" sldId="271"/>
        </pc:sldMkLst>
        <pc:graphicFrameChg chg="modGraphic">
          <ac:chgData name="Karn Sharma" userId="1d302b6f3a083292" providerId="LiveId" clId="{3DC74ADF-01F4-4F5B-8376-AF2C50065AC6}" dt="2026-01-14T06:06:47.919" v="5426" actId="207"/>
          <ac:graphicFrameMkLst>
            <pc:docMk/>
            <pc:sldMk cId="1326944191" sldId="271"/>
            <ac:graphicFrameMk id="5" creationId="{62DDE7BF-5A91-A2E8-8A50-56895AB24A07}"/>
          </ac:graphicFrameMkLst>
        </pc:graphicFrameChg>
      </pc:sldChg>
      <pc:sldChg chg="modSp add mod">
        <pc:chgData name="Karn Sharma" userId="1d302b6f3a083292" providerId="LiveId" clId="{3DC74ADF-01F4-4F5B-8376-AF2C50065AC6}" dt="2026-01-14T06:07:22.631" v="5431" actId="207"/>
        <pc:sldMkLst>
          <pc:docMk/>
          <pc:sldMk cId="2850487625" sldId="272"/>
        </pc:sldMkLst>
        <pc:graphicFrameChg chg="modGraphic">
          <ac:chgData name="Karn Sharma" userId="1d302b6f3a083292" providerId="LiveId" clId="{3DC74ADF-01F4-4F5B-8376-AF2C50065AC6}" dt="2026-01-14T06:07:22.631" v="5431" actId="207"/>
          <ac:graphicFrameMkLst>
            <pc:docMk/>
            <pc:sldMk cId="2850487625" sldId="272"/>
            <ac:graphicFrameMk id="5" creationId="{33C81948-F517-FB31-39EF-52C48ABE4AD4}"/>
          </ac:graphicFrameMkLst>
        </pc:graphicFrameChg>
      </pc:sldChg>
      <pc:sldChg chg="modSp add mod">
        <pc:chgData name="Karn Sharma" userId="1d302b6f3a083292" providerId="LiveId" clId="{3DC74ADF-01F4-4F5B-8376-AF2C50065AC6}" dt="2026-01-14T06:11:05.502" v="5504" actId="20577"/>
        <pc:sldMkLst>
          <pc:docMk/>
          <pc:sldMk cId="2017883925" sldId="273"/>
        </pc:sldMkLst>
        <pc:graphicFrameChg chg="modGraphic">
          <ac:chgData name="Karn Sharma" userId="1d302b6f3a083292" providerId="LiveId" clId="{3DC74ADF-01F4-4F5B-8376-AF2C50065AC6}" dt="2026-01-14T06:11:05.502" v="5504" actId="20577"/>
          <ac:graphicFrameMkLst>
            <pc:docMk/>
            <pc:sldMk cId="2017883925" sldId="273"/>
            <ac:graphicFrameMk id="5" creationId="{E358D253-5D59-608D-C238-C2826F31042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1D302B6F3A083292/Desktop/Advanced%20Valuation%20TVS/2.%20Index%20Valauation/1.3%20Index%20Valuation%20New.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D302B6F3A083292/Desktop/Advanced%20Valuation%20TVS/2.%20Index%20Valauation/1.3%20Index%20Valuation%20New.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D302B6F3A083292/Desktop/Advanced%20Valuation%20TVS/2.%20Index%20Valauation/1.3%20Index%20Valuation%20New.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D302B6F3A083292/Desktop/Advanced%20Valuation%20TVS/2.%20Index%20Valauation/1.3%20Index%20Valuation%20New.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dk1"/>
                </a:solidFill>
                <a:latin typeface="Calibri" panose="020F0502020204030204" pitchFamily="34" charset="0"/>
                <a:ea typeface="Calibri" panose="020F0502020204030204" pitchFamily="34" charset="0"/>
                <a:cs typeface="Calibri" panose="020F0502020204030204" pitchFamily="34" charset="0"/>
              </a:defRPr>
            </a:pPr>
            <a:r>
              <a:rPr lang="en-IN" b="1" dirty="0"/>
              <a:t>Historic Dividends and Buyback Amounts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dk1"/>
              </a:solidFill>
              <a:latin typeface="Calibri" panose="020F0502020204030204" pitchFamily="34" charset="0"/>
              <a:ea typeface="Calibri" panose="020F0502020204030204" pitchFamily="34" charset="0"/>
              <a:cs typeface="Calibri" panose="020F0502020204030204" pitchFamily="34" charset="0"/>
            </a:defRPr>
          </a:pPr>
          <a:endParaRPr lang="en-IN"/>
        </a:p>
      </c:txPr>
    </c:title>
    <c:autoTitleDeleted val="0"/>
    <c:plotArea>
      <c:layout/>
      <c:lineChart>
        <c:grouping val="standard"/>
        <c:varyColors val="0"/>
        <c:ser>
          <c:idx val="0"/>
          <c:order val="0"/>
          <c:tx>
            <c:strRef>
              <c:f>'ExpDiv&amp;BB'!$E$2</c:f>
              <c:strCache>
                <c:ptCount val="1"/>
                <c:pt idx="0">
                  <c:v>Dividend Amount</c:v>
                </c:pt>
              </c:strCache>
            </c:strRef>
          </c:tx>
          <c:spPr>
            <a:ln w="28575" cap="rnd">
              <a:solidFill>
                <a:schemeClr val="accent5">
                  <a:lumMod val="50000"/>
                </a:schemeClr>
              </a:solidFill>
              <a:round/>
            </a:ln>
            <a:effectLst/>
          </c:spPr>
          <c:marker>
            <c:symbol val="circle"/>
            <c:size val="5"/>
            <c:spPr>
              <a:solidFill>
                <a:schemeClr val="accent5">
                  <a:lumMod val="20000"/>
                  <a:lumOff val="80000"/>
                </a:schemeClr>
              </a:solidFill>
              <a:ln w="9525">
                <a:solidFill>
                  <a:schemeClr val="accent5">
                    <a:lumMod val="50000"/>
                  </a:schemeClr>
                </a:solidFill>
              </a:ln>
              <a:effectLst/>
            </c:spPr>
          </c:marker>
          <c:cat>
            <c:strRef>
              <c:f>'ExpDiv&amp;BB'!$B$3:$B$30</c:f>
              <c:strCach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strCache>
            </c:strRef>
          </c:cat>
          <c:val>
            <c:numRef>
              <c:f>'ExpDiv&amp;BB'!$E$3:$E$30</c:f>
              <c:numCache>
                <c:formatCode>#,##0.0</c:formatCode>
                <c:ptCount val="28"/>
                <c:pt idx="0">
                  <c:v>19.499755454545454</c:v>
                </c:pt>
                <c:pt idx="1">
                  <c:v>13.513746833333332</c:v>
                </c:pt>
                <c:pt idx="2">
                  <c:v>17.120845333333332</c:v>
                </c:pt>
                <c:pt idx="3">
                  <c:v>20.331692499999999</c:v>
                </c:pt>
                <c:pt idx="4">
                  <c:v>26.651776666666667</c:v>
                </c:pt>
                <c:pt idx="5">
                  <c:v>29.657861749999991</c:v>
                </c:pt>
                <c:pt idx="6">
                  <c:v>38.196685083333335</c:v>
                </c:pt>
                <c:pt idx="7">
                  <c:v>39.140385916666666</c:v>
                </c:pt>
                <c:pt idx="8">
                  <c:v>47.525174416666665</c:v>
                </c:pt>
                <c:pt idx="9">
                  <c:v>46.473653833333323</c:v>
                </c:pt>
                <c:pt idx="10">
                  <c:v>61.054314749999989</c:v>
                </c:pt>
                <c:pt idx="11">
                  <c:v>46.704905749999995</c:v>
                </c:pt>
                <c:pt idx="12">
                  <c:v>54.962826333333332</c:v>
                </c:pt>
                <c:pt idx="13">
                  <c:v>71.209740583333328</c:v>
                </c:pt>
                <c:pt idx="14">
                  <c:v>85.716764333333344</c:v>
                </c:pt>
                <c:pt idx="15">
                  <c:v>88.006787916666681</c:v>
                </c:pt>
                <c:pt idx="16">
                  <c:v>91.547935833333341</c:v>
                </c:pt>
                <c:pt idx="17">
                  <c:v>113.69865375000001</c:v>
                </c:pt>
                <c:pt idx="18">
                  <c:v>112.25126250000001</c:v>
                </c:pt>
                <c:pt idx="19">
                  <c:v>129.43053750000001</c:v>
                </c:pt>
                <c:pt idx="20">
                  <c:v>140.37849000000003</c:v>
                </c:pt>
                <c:pt idx="21">
                  <c:v>148.14988150000002</c:v>
                </c:pt>
                <c:pt idx="22">
                  <c:v>122.63229391666664</c:v>
                </c:pt>
                <c:pt idx="23">
                  <c:v>174.85317900000001</c:v>
                </c:pt>
                <c:pt idx="24">
                  <c:v>238.61505375000004</c:v>
                </c:pt>
                <c:pt idx="25">
                  <c:v>251.96330249999997</c:v>
                </c:pt>
                <c:pt idx="26">
                  <c:v>293.32014216666664</c:v>
                </c:pt>
                <c:pt idx="27">
                  <c:v>309.33936</c:v>
                </c:pt>
              </c:numCache>
            </c:numRef>
          </c:val>
          <c:smooth val="0"/>
          <c:extLst>
            <c:ext xmlns:c16="http://schemas.microsoft.com/office/drawing/2014/chart" uri="{C3380CC4-5D6E-409C-BE32-E72D297353CC}">
              <c16:uniqueId val="{00000000-1B95-4742-98E1-0675362D1DF5}"/>
            </c:ext>
          </c:extLst>
        </c:ser>
        <c:ser>
          <c:idx val="1"/>
          <c:order val="1"/>
          <c:tx>
            <c:strRef>
              <c:f>'ExpDiv&amp;BB'!$F$2</c:f>
              <c:strCache>
                <c:ptCount val="1"/>
                <c:pt idx="0">
                  <c:v>BB Amount</c:v>
                </c:pt>
              </c:strCache>
            </c:strRef>
          </c:tx>
          <c:spPr>
            <a:ln w="28575" cap="rnd">
              <a:solidFill>
                <a:schemeClr val="accent5">
                  <a:lumMod val="60000"/>
                  <a:lumOff val="40000"/>
                </a:schemeClr>
              </a:solidFill>
              <a:round/>
            </a:ln>
            <a:effectLst/>
          </c:spPr>
          <c:marker>
            <c:symbol val="circle"/>
            <c:size val="5"/>
            <c:spPr>
              <a:solidFill>
                <a:schemeClr val="accent5">
                  <a:lumMod val="20000"/>
                  <a:lumOff val="80000"/>
                </a:schemeClr>
              </a:solidFill>
              <a:ln w="9525">
                <a:solidFill>
                  <a:schemeClr val="accent5">
                    <a:lumMod val="60000"/>
                    <a:lumOff val="40000"/>
                  </a:schemeClr>
                </a:solidFill>
              </a:ln>
              <a:effectLst/>
            </c:spPr>
          </c:marker>
          <c:cat>
            <c:strRef>
              <c:f>'ExpDiv&amp;BB'!$B$3:$B$30</c:f>
              <c:strCach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strCache>
            </c:strRef>
          </c:cat>
          <c:val>
            <c:numRef>
              <c:f>'ExpDiv&amp;BB'!$F$3:$F$30</c:f>
              <c:numCache>
                <c:formatCode>#,##0.0</c:formatCode>
                <c:ptCount val="28"/>
                <c:pt idx="0">
                  <c:v>3.3221925912545505</c:v>
                </c:pt>
                <c:pt idx="1">
                  <c:v>2.30235039174937</c:v>
                </c:pt>
                <c:pt idx="2">
                  <c:v>2.9168953249183658</c:v>
                </c:pt>
                <c:pt idx="3">
                  <c:v>3.4639305271605636</c:v>
                </c:pt>
                <c:pt idx="4">
                  <c:v>4.5406895072179694</c:v>
                </c:pt>
                <c:pt idx="5">
                  <c:v>5.0528391911363304</c:v>
                </c:pt>
                <c:pt idx="6">
                  <c:v>6.5076069538478842</c:v>
                </c:pt>
                <c:pt idx="7">
                  <c:v>6.6683861966526923</c:v>
                </c:pt>
                <c:pt idx="8">
                  <c:v>8.0969108927120494</c:v>
                </c:pt>
                <c:pt idx="9">
                  <c:v>7.9177622926362794</c:v>
                </c:pt>
                <c:pt idx="10">
                  <c:v>10.401883890256281</c:v>
                </c:pt>
                <c:pt idx="11">
                  <c:v>7.9571609100217273</c:v>
                </c:pt>
                <c:pt idx="12">
                  <c:v>9.3640709938465694</c:v>
                </c:pt>
                <c:pt idx="13">
                  <c:v>12.132073817159727</c:v>
                </c:pt>
                <c:pt idx="14">
                  <c:v>14.603649777983863</c:v>
                </c:pt>
                <c:pt idx="15">
                  <c:v>14.993803357093226</c:v>
                </c:pt>
                <c:pt idx="16">
                  <c:v>15.597112224258744</c:v>
                </c:pt>
                <c:pt idx="17">
                  <c:v>19.370951907800293</c:v>
                </c:pt>
                <c:pt idx="18">
                  <c:v>19.124358431353606</c:v>
                </c:pt>
                <c:pt idx="19">
                  <c:v>22.051208476276638</c:v>
                </c:pt>
                <c:pt idx="20">
                  <c:v>23.91642195393738</c:v>
                </c:pt>
                <c:pt idx="21">
                  <c:v>25.240441597425797</c:v>
                </c:pt>
                <c:pt idx="22">
                  <c:v>20.892985004257184</c:v>
                </c:pt>
                <c:pt idx="23">
                  <c:v>29.789908759891507</c:v>
                </c:pt>
                <c:pt idx="24">
                  <c:v>40.653082320848789</c:v>
                </c:pt>
                <c:pt idx="25">
                  <c:v>42.927236640724402</c:v>
                </c:pt>
                <c:pt idx="26">
                  <c:v>49.973242251337069</c:v>
                </c:pt>
                <c:pt idx="27">
                  <c:v>52.702452211310565</c:v>
                </c:pt>
              </c:numCache>
            </c:numRef>
          </c:val>
          <c:smooth val="0"/>
          <c:extLst>
            <c:ext xmlns:c16="http://schemas.microsoft.com/office/drawing/2014/chart" uri="{C3380CC4-5D6E-409C-BE32-E72D297353CC}">
              <c16:uniqueId val="{00000001-1B95-4742-98E1-0675362D1DF5}"/>
            </c:ext>
          </c:extLst>
        </c:ser>
        <c:dLbls>
          <c:showLegendKey val="0"/>
          <c:showVal val="0"/>
          <c:showCatName val="0"/>
          <c:showSerName val="0"/>
          <c:showPercent val="0"/>
          <c:showBubbleSize val="0"/>
        </c:dLbls>
        <c:marker val="1"/>
        <c:smooth val="0"/>
        <c:axId val="169573008"/>
        <c:axId val="169572048"/>
      </c:lineChart>
      <c:catAx>
        <c:axId val="1695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640000" spcFirstLastPara="1" vertOverflow="ellipsis" wrap="square" anchor="ctr" anchorCtr="1"/>
          <a:lstStyle/>
          <a:p>
            <a:pPr>
              <a:defRPr sz="900" b="0" i="0" u="none" strike="noStrike" kern="1200" baseline="0">
                <a:solidFill>
                  <a:schemeClr val="dk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2048"/>
        <c:crosses val="autoZero"/>
        <c:auto val="1"/>
        <c:lblAlgn val="ctr"/>
        <c:lblOffset val="100"/>
        <c:noMultiLvlLbl val="0"/>
      </c:catAx>
      <c:valAx>
        <c:axId val="169572048"/>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3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solidFill>
      <a:schemeClr val="lt1"/>
    </a:solidFill>
    <a:ln w="19050" cap="flat" cmpd="sng" algn="ctr">
      <a:noFill/>
      <a:prstDash val="solid"/>
      <a:miter lim="800000"/>
    </a:ln>
    <a:effectLst/>
  </c:spPr>
  <c:txPr>
    <a:bodyPr/>
    <a:lstStyle/>
    <a:p>
      <a:pPr>
        <a:defRPr>
          <a:solidFill>
            <a:schemeClr val="dk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b="1" dirty="0">
                <a:solidFill>
                  <a:schemeClr val="tx1"/>
                </a:solidFill>
              </a:rPr>
              <a:t>BSE 100 EPS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lineChart>
        <c:grouping val="standard"/>
        <c:varyColors val="0"/>
        <c:ser>
          <c:idx val="0"/>
          <c:order val="0"/>
          <c:tx>
            <c:strRef>
              <c:f>IndexEPSGrowth!$E$2</c:f>
              <c:strCache>
                <c:ptCount val="1"/>
                <c:pt idx="0">
                  <c:v>Index EPS</c:v>
                </c:pt>
              </c:strCache>
            </c:strRef>
          </c:tx>
          <c:spPr>
            <a:ln w="28575" cap="rnd">
              <a:solidFill>
                <a:schemeClr val="accent5">
                  <a:lumMod val="50000"/>
                </a:schemeClr>
              </a:solidFill>
              <a:round/>
            </a:ln>
            <a:effectLst/>
          </c:spPr>
          <c:marker>
            <c:symbol val="circle"/>
            <c:size val="5"/>
            <c:spPr>
              <a:solidFill>
                <a:schemeClr val="accent5">
                  <a:lumMod val="20000"/>
                  <a:lumOff val="80000"/>
                </a:schemeClr>
              </a:solidFill>
              <a:ln w="9525">
                <a:solidFill>
                  <a:schemeClr val="accent5">
                    <a:lumMod val="50000"/>
                  </a:schemeClr>
                </a:solidFill>
              </a:ln>
              <a:effectLst/>
            </c:spPr>
          </c:marker>
          <c:cat>
            <c:strRef>
              <c:f>IndexEPSGrowth!$B$3:$B$30</c:f>
              <c:strCach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strCache>
            </c:strRef>
          </c:cat>
          <c:val>
            <c:numRef>
              <c:f>IndexEPSGrowth!$E$3:$E$30</c:f>
              <c:numCache>
                <c:formatCode>0.0</c:formatCode>
                <c:ptCount val="28"/>
                <c:pt idx="0">
                  <c:v>74.174580450170993</c:v>
                </c:pt>
                <c:pt idx="1">
                  <c:v>46.995509828878518</c:v>
                </c:pt>
                <c:pt idx="2">
                  <c:v>57.054269972451785</c:v>
                </c:pt>
                <c:pt idx="3">
                  <c:v>64.117604856512131</c:v>
                </c:pt>
                <c:pt idx="4">
                  <c:v>74.350146784093937</c:v>
                </c:pt>
                <c:pt idx="5">
                  <c:v>82.610817477096532</c:v>
                </c:pt>
                <c:pt idx="6">
                  <c:v>121.9982787274454</c:v>
                </c:pt>
                <c:pt idx="7">
                  <c:v>151.37249455337692</c:v>
                </c:pt>
                <c:pt idx="8">
                  <c:v>181.81293675751223</c:v>
                </c:pt>
                <c:pt idx="9">
                  <c:v>213.60224401842765</c:v>
                </c:pt>
                <c:pt idx="10">
                  <c:v>255.35481459330143</c:v>
                </c:pt>
                <c:pt idx="11">
                  <c:v>197.82083529227393</c:v>
                </c:pt>
                <c:pt idx="12">
                  <c:v>255.97679902631981</c:v>
                </c:pt>
                <c:pt idx="13">
                  <c:v>286.622903283369</c:v>
                </c:pt>
                <c:pt idx="14">
                  <c:v>302.40310293571162</c:v>
                </c:pt>
                <c:pt idx="15">
                  <c:v>358.62148350536336</c:v>
                </c:pt>
                <c:pt idx="16">
                  <c:v>398.93297005139118</c:v>
                </c:pt>
                <c:pt idx="17">
                  <c:v>408.24636451769265</c:v>
                </c:pt>
                <c:pt idx="18">
                  <c:v>367.42856090735012</c:v>
                </c:pt>
                <c:pt idx="19">
                  <c:v>417.88317367763432</c:v>
                </c:pt>
                <c:pt idx="20">
                  <c:v>485.66477768090675</c:v>
                </c:pt>
                <c:pt idx="21">
                  <c:v>477.89205243752565</c:v>
                </c:pt>
                <c:pt idx="22">
                  <c:v>398.11285090823299</c:v>
                </c:pt>
                <c:pt idx="23">
                  <c:v>573.71045948499886</c:v>
                </c:pt>
                <c:pt idx="24">
                  <c:v>774.88773198889385</c:v>
                </c:pt>
                <c:pt idx="25">
                  <c:v>808.58541927409249</c:v>
                </c:pt>
                <c:pt idx="26">
                  <c:v>1060.0272565742714</c:v>
                </c:pt>
                <c:pt idx="27">
                  <c:v>1125.1977302487996</c:v>
                </c:pt>
              </c:numCache>
            </c:numRef>
          </c:val>
          <c:smooth val="0"/>
          <c:extLst>
            <c:ext xmlns:c16="http://schemas.microsoft.com/office/drawing/2014/chart" uri="{C3380CC4-5D6E-409C-BE32-E72D297353CC}">
              <c16:uniqueId val="{00000000-6C34-49AC-AD27-13D76A5FA5EC}"/>
            </c:ext>
          </c:extLst>
        </c:ser>
        <c:dLbls>
          <c:showLegendKey val="0"/>
          <c:showVal val="0"/>
          <c:showCatName val="0"/>
          <c:showSerName val="0"/>
          <c:showPercent val="0"/>
          <c:showBubbleSize val="0"/>
        </c:dLbls>
        <c:marker val="1"/>
        <c:smooth val="0"/>
        <c:axId val="169573008"/>
        <c:axId val="169572048"/>
      </c:lineChart>
      <c:catAx>
        <c:axId val="1695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640000" spcFirstLastPara="1" vertOverflow="ellipsis"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2048"/>
        <c:crosses val="autoZero"/>
        <c:auto val="1"/>
        <c:lblAlgn val="ctr"/>
        <c:lblOffset val="100"/>
        <c:noMultiLvlLbl val="0"/>
      </c:catAx>
      <c:valAx>
        <c:axId val="169572048"/>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3008"/>
        <c:crosses val="autoZero"/>
        <c:crossBetween val="between"/>
      </c:valAx>
      <c:spPr>
        <a:noFill/>
        <a:ln>
          <a:noFill/>
        </a:ln>
        <a:effectLst/>
      </c:spPr>
    </c:plotArea>
    <c:plotVisOnly val="1"/>
    <c:dispBlanksAs val="gap"/>
    <c:showDLblsOverMax val="0"/>
  </c:chart>
  <c:spPr>
    <a:solidFill>
      <a:schemeClr val="bg1"/>
    </a:solidFill>
    <a:ln w="19050" cap="flat" cmpd="sng" algn="ctr">
      <a:noFill/>
      <a:beve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lineChart>
        <c:grouping val="standard"/>
        <c:varyColors val="0"/>
        <c:ser>
          <c:idx val="0"/>
          <c:order val="0"/>
          <c:tx>
            <c:strRef>
              <c:f>RfHistorical!$J$2</c:f>
              <c:strCache>
                <c:ptCount val="1"/>
                <c:pt idx="0">
                  <c:v>10Yr Bond Average Range</c:v>
                </c:pt>
              </c:strCache>
            </c:strRef>
          </c:tx>
          <c:spPr>
            <a:ln w="28575" cap="rnd">
              <a:solidFill>
                <a:schemeClr val="accent5">
                  <a:lumMod val="50000"/>
                </a:schemeClr>
              </a:solidFill>
              <a:round/>
            </a:ln>
            <a:effectLst/>
          </c:spPr>
          <c:marker>
            <c:symbol val="circle"/>
            <c:size val="5"/>
            <c:spPr>
              <a:solidFill>
                <a:schemeClr val="accent5">
                  <a:lumMod val="20000"/>
                  <a:lumOff val="80000"/>
                </a:schemeClr>
              </a:solidFill>
              <a:ln w="9525">
                <a:solidFill>
                  <a:schemeClr val="accent5">
                    <a:lumMod val="50000"/>
                  </a:schemeClr>
                </a:solidFill>
              </a:ln>
              <a:effectLst/>
            </c:spPr>
          </c:marker>
          <c:cat>
            <c:numRef>
              <c:f>RfHistorical!$I$3:$I$30</c:f>
              <c:numCache>
                <c:formatCode>General</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f>RfHistorical!$J$3:$J$30</c:f>
              <c:numCache>
                <c:formatCode>0.00%</c:formatCode>
                <c:ptCount val="28"/>
                <c:pt idx="0">
                  <c:v>0.12149700000000001</c:v>
                </c:pt>
                <c:pt idx="1">
                  <c:v>0.11739166666666667</c:v>
                </c:pt>
                <c:pt idx="2">
                  <c:v>0.11044916666666667</c:v>
                </c:pt>
                <c:pt idx="3">
                  <c:v>9.3700833333333344E-2</c:v>
                </c:pt>
                <c:pt idx="4">
                  <c:v>7.1952500000000016E-2</c:v>
                </c:pt>
                <c:pt idx="5">
                  <c:v>5.6047500000000007E-2</c:v>
                </c:pt>
                <c:pt idx="6">
                  <c:v>5.9314166666666675E-2</c:v>
                </c:pt>
                <c:pt idx="7">
                  <c:v>6.9710000000000008E-2</c:v>
                </c:pt>
                <c:pt idx="8">
                  <c:v>7.662833333333334E-2</c:v>
                </c:pt>
                <c:pt idx="9">
                  <c:v>7.9529166666666651E-2</c:v>
                </c:pt>
                <c:pt idx="10">
                  <c:v>7.8546666666666667E-2</c:v>
                </c:pt>
                <c:pt idx="11">
                  <c:v>6.948583333333333E-2</c:v>
                </c:pt>
                <c:pt idx="12">
                  <c:v>7.8485000000000013E-2</c:v>
                </c:pt>
                <c:pt idx="13">
                  <c:v>8.3657499999999996E-2</c:v>
                </c:pt>
                <c:pt idx="14">
                  <c:v>8.2949999999999996E-2</c:v>
                </c:pt>
                <c:pt idx="15">
                  <c:v>8.1975833333333317E-2</c:v>
                </c:pt>
                <c:pt idx="16">
                  <c:v>8.555083333333334E-2</c:v>
                </c:pt>
                <c:pt idx="17">
                  <c:v>7.7501666666666677E-2</c:v>
                </c:pt>
                <c:pt idx="18">
                  <c:v>7.1738333333333348E-2</c:v>
                </c:pt>
                <c:pt idx="19">
                  <c:v>6.7472499999999991E-2</c:v>
                </c:pt>
                <c:pt idx="20">
                  <c:v>7.718916666666667E-2</c:v>
                </c:pt>
                <c:pt idx="21">
                  <c:v>6.918500000000001E-2</c:v>
                </c:pt>
                <c:pt idx="22">
                  <c:v>6.0612500000000007E-2</c:v>
                </c:pt>
                <c:pt idx="23">
                  <c:v>6.1889999999999994E-2</c:v>
                </c:pt>
                <c:pt idx="24">
                  <c:v>7.1882500000000002E-2</c:v>
                </c:pt>
                <c:pt idx="25">
                  <c:v>7.2236666666666671E-2</c:v>
                </c:pt>
                <c:pt idx="26">
                  <c:v>6.9460000000000008E-2</c:v>
                </c:pt>
                <c:pt idx="27">
                  <c:v>6.5046666666666655E-2</c:v>
                </c:pt>
              </c:numCache>
            </c:numRef>
          </c:val>
          <c:smooth val="0"/>
          <c:extLst>
            <c:ext xmlns:c16="http://schemas.microsoft.com/office/drawing/2014/chart" uri="{C3380CC4-5D6E-409C-BE32-E72D297353CC}">
              <c16:uniqueId val="{00000000-A44D-46FE-8496-260FE5258160}"/>
            </c:ext>
          </c:extLst>
        </c:ser>
        <c:dLbls>
          <c:showLegendKey val="0"/>
          <c:showVal val="0"/>
          <c:showCatName val="0"/>
          <c:showSerName val="0"/>
          <c:showPercent val="0"/>
          <c:showBubbleSize val="0"/>
        </c:dLbls>
        <c:marker val="1"/>
        <c:smooth val="0"/>
        <c:axId val="169573008"/>
        <c:axId val="169572048"/>
      </c:lineChart>
      <c:catAx>
        <c:axId val="1695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640000" spcFirstLastPara="1" vertOverflow="ellipsis"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2048"/>
        <c:crosses val="autoZero"/>
        <c:auto val="1"/>
        <c:lblAlgn val="ctr"/>
        <c:lblOffset val="100"/>
        <c:noMultiLvlLbl val="0"/>
      </c:catAx>
      <c:valAx>
        <c:axId val="1695720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3008"/>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lineChart>
        <c:grouping val="standard"/>
        <c:varyColors val="0"/>
        <c:ser>
          <c:idx val="0"/>
          <c:order val="0"/>
          <c:tx>
            <c:strRef>
              <c:f>ERPHistorical!$C$2</c:f>
              <c:strCache>
                <c:ptCount val="1"/>
                <c:pt idx="0">
                  <c:v>Implied ERP</c:v>
                </c:pt>
              </c:strCache>
            </c:strRef>
          </c:tx>
          <c:spPr>
            <a:ln w="28575" cap="rnd">
              <a:solidFill>
                <a:schemeClr val="accent5">
                  <a:lumMod val="50000"/>
                </a:schemeClr>
              </a:solidFill>
              <a:round/>
            </a:ln>
            <a:effectLst/>
          </c:spPr>
          <c:marker>
            <c:symbol val="circle"/>
            <c:size val="5"/>
            <c:spPr>
              <a:solidFill>
                <a:schemeClr val="accent5">
                  <a:lumMod val="20000"/>
                  <a:lumOff val="80000"/>
                </a:schemeClr>
              </a:solidFill>
              <a:ln w="9525">
                <a:solidFill>
                  <a:schemeClr val="accent5">
                    <a:lumMod val="50000"/>
                  </a:schemeClr>
                </a:solidFill>
              </a:ln>
              <a:effectLst/>
            </c:spPr>
          </c:marker>
          <c:cat>
            <c:numRef>
              <c:f>ERPHistorical!$B$3:$B$31</c:f>
              <c:numCache>
                <c:formatCode>General</c:formatCode>
                <c:ptCount val="29"/>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pt idx="25">
                  <c:v>2022</c:v>
                </c:pt>
                <c:pt idx="26">
                  <c:v>2023</c:v>
                </c:pt>
                <c:pt idx="27">
                  <c:v>2024</c:v>
                </c:pt>
                <c:pt idx="28">
                  <c:v>2025</c:v>
                </c:pt>
              </c:numCache>
            </c:numRef>
          </c:cat>
          <c:val>
            <c:numRef>
              <c:f>ERPHistorical!$C$3:$C$31</c:f>
              <c:numCache>
                <c:formatCode>0.00%</c:formatCode>
                <c:ptCount val="29"/>
                <c:pt idx="0">
                  <c:v>0.02</c:v>
                </c:pt>
                <c:pt idx="1">
                  <c:v>0.02</c:v>
                </c:pt>
                <c:pt idx="2">
                  <c:v>1.9699999999999999E-2</c:v>
                </c:pt>
                <c:pt idx="3">
                  <c:v>1.9900000000000001E-2</c:v>
                </c:pt>
                <c:pt idx="4">
                  <c:v>5.5E-2</c:v>
                </c:pt>
                <c:pt idx="5">
                  <c:v>4.9200000000000001E-2</c:v>
                </c:pt>
                <c:pt idx="6">
                  <c:v>7.0800000000000002E-2</c:v>
                </c:pt>
                <c:pt idx="7">
                  <c:v>4.5599999999999995E-2</c:v>
                </c:pt>
                <c:pt idx="8">
                  <c:v>4.8600000000000004E-2</c:v>
                </c:pt>
                <c:pt idx="9">
                  <c:v>3.1800000000000002E-2</c:v>
                </c:pt>
                <c:pt idx="10">
                  <c:v>3.0800000000000001E-2</c:v>
                </c:pt>
                <c:pt idx="11">
                  <c:v>4.1100000000000005E-2</c:v>
                </c:pt>
                <c:pt idx="12">
                  <c:v>3.2199999999999999E-2</c:v>
                </c:pt>
                <c:pt idx="13">
                  <c:v>2.7000000000000003E-2</c:v>
                </c:pt>
                <c:pt idx="14">
                  <c:v>3.6600000000000001E-2</c:v>
                </c:pt>
                <c:pt idx="15">
                  <c:v>3.6499999999999998E-2</c:v>
                </c:pt>
                <c:pt idx="16">
                  <c:v>2.8199999999999999E-2</c:v>
                </c:pt>
                <c:pt idx="17">
                  <c:v>2.3599999999999999E-2</c:v>
                </c:pt>
                <c:pt idx="18">
                  <c:v>2.5600000000000001E-2</c:v>
                </c:pt>
                <c:pt idx="19">
                  <c:v>2.3799999999999998E-2</c:v>
                </c:pt>
                <c:pt idx="20">
                  <c:v>1.9299999999999998E-2</c:v>
                </c:pt>
                <c:pt idx="21">
                  <c:v>2.0099999999999996E-2</c:v>
                </c:pt>
                <c:pt idx="22">
                  <c:v>2.1899999999999999E-2</c:v>
                </c:pt>
                <c:pt idx="23">
                  <c:v>2.0499999999999997E-2</c:v>
                </c:pt>
                <c:pt idx="24">
                  <c:v>1.7399999999999999E-2</c:v>
                </c:pt>
                <c:pt idx="25">
                  <c:v>1.8000000000000002E-2</c:v>
                </c:pt>
                <c:pt idx="26">
                  <c:v>1.6500000000000001E-2</c:v>
                </c:pt>
                <c:pt idx="27">
                  <c:v>1.43E-2</c:v>
                </c:pt>
                <c:pt idx="28">
                  <c:v>1.67E-2</c:v>
                </c:pt>
              </c:numCache>
            </c:numRef>
          </c:val>
          <c:smooth val="0"/>
          <c:extLst>
            <c:ext xmlns:c16="http://schemas.microsoft.com/office/drawing/2014/chart" uri="{C3380CC4-5D6E-409C-BE32-E72D297353CC}">
              <c16:uniqueId val="{00000000-E10A-47C3-A2CE-A5545B98B708}"/>
            </c:ext>
          </c:extLst>
        </c:ser>
        <c:dLbls>
          <c:showLegendKey val="0"/>
          <c:showVal val="0"/>
          <c:showCatName val="0"/>
          <c:showSerName val="0"/>
          <c:showPercent val="0"/>
          <c:showBubbleSize val="0"/>
        </c:dLbls>
        <c:marker val="1"/>
        <c:smooth val="0"/>
        <c:axId val="169573008"/>
        <c:axId val="169572048"/>
      </c:lineChart>
      <c:catAx>
        <c:axId val="1695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640000" spcFirstLastPara="1" vertOverflow="ellipsis"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2048"/>
        <c:crosses val="autoZero"/>
        <c:auto val="1"/>
        <c:lblAlgn val="ctr"/>
        <c:lblOffset val="100"/>
        <c:noMultiLvlLbl val="0"/>
      </c:catAx>
      <c:valAx>
        <c:axId val="1695720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9573008"/>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C397E-B76C-49B2-A239-8D9F1ACA575F}" type="datetimeFigureOut">
              <a:rPr lang="en-IN" smtClean="0"/>
              <a:t>14-01-2026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5F7129-7BC0-4DCF-82FC-341E3831AFD4}" type="slidenum">
              <a:rPr lang="en-IN" smtClean="0"/>
              <a:t>‹#›</a:t>
            </a:fld>
            <a:endParaRPr lang="en-IN"/>
          </a:p>
        </p:txBody>
      </p:sp>
    </p:spTree>
    <p:extLst>
      <p:ext uri="{BB962C8B-B14F-4D97-AF65-F5344CB8AC3E}">
        <p14:creationId xmlns:p14="http://schemas.microsoft.com/office/powerpoint/2010/main" val="225184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5F7129-7BC0-4DCF-82FC-341E3831AFD4}" type="slidenum">
              <a:rPr lang="en-IN" smtClean="0"/>
              <a:t>9</a:t>
            </a:fld>
            <a:endParaRPr lang="en-IN"/>
          </a:p>
        </p:txBody>
      </p:sp>
    </p:spTree>
    <p:extLst>
      <p:ext uri="{BB962C8B-B14F-4D97-AF65-F5344CB8AC3E}">
        <p14:creationId xmlns:p14="http://schemas.microsoft.com/office/powerpoint/2010/main" val="3381164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A63FB-9AF9-1241-1933-AEA979E69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3AF5C4-7B71-6704-89B4-3065B0C168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111517-1127-913A-1A5C-E2B4BBDF0EF0}"/>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FBCFB0A8-8DF2-1E68-66DB-CBA9B7A178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58A4EA-EE8F-420C-5559-B54038D0F248}"/>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254549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F8F-465F-B09E-0D18-45C9D27351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3F4F2E-543E-6991-31D0-2F6DBF401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B4B31-F496-E6AE-23C8-3966B384E1E1}"/>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E7E01561-F95B-E6F5-61F2-FEB53FC686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EE987C-6DB5-257E-AE56-9B72540ED998}"/>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33882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16F7-3A38-08D9-62A7-1F39BF51E1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E1A8CD-36DC-93E5-C1DF-AA53B1EE52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98A35A-12DD-13D0-145C-75885B486242}"/>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90F60475-2EDC-04F1-4F66-060521491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264E39-D065-01FD-1E4F-ED0D5FB8557B}"/>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552128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33718-8590-2153-DDA5-1D47D23E30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2C2C8F-58FB-A2D9-25EE-185FB8B34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BA4E68-2A6A-A303-14E1-6D77950182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B55A66-ED4A-9A16-28C9-D1DEF0578FB9}"/>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6" name="Footer Placeholder 5">
            <a:extLst>
              <a:ext uri="{FF2B5EF4-FFF2-40B4-BE49-F238E27FC236}">
                <a16:creationId xmlns:a16="http://schemas.microsoft.com/office/drawing/2014/main" id="{05163116-ED35-8CC7-FD83-1AAA220F81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A7E716-4C1E-6EAC-AAD2-E66D4FA9CA0A}"/>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605410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1608-7549-88CB-0D89-22AA04C224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5AD81A-2D16-709A-E7A4-8C7AF88D8C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E8563D-AA0D-5233-AC20-423556D519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41D329-C001-AC7B-56AD-6B182590E2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DBA39E-2B5E-C13A-0173-5F7F0760EE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8A478A-5C1A-5398-78CF-A6833B93BC06}"/>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8" name="Footer Placeholder 7">
            <a:extLst>
              <a:ext uri="{FF2B5EF4-FFF2-40B4-BE49-F238E27FC236}">
                <a16:creationId xmlns:a16="http://schemas.microsoft.com/office/drawing/2014/main" id="{D3312FBF-6CB3-AA2F-3F9F-C239D94AD9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97EF03-7AA4-C066-C355-9442F5E7F5A0}"/>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279881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D986-41B2-FE35-E039-C4F5F26602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F6B30F-1471-1278-E26B-41C484417DF6}"/>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4" name="Footer Placeholder 3">
            <a:extLst>
              <a:ext uri="{FF2B5EF4-FFF2-40B4-BE49-F238E27FC236}">
                <a16:creationId xmlns:a16="http://schemas.microsoft.com/office/drawing/2014/main" id="{FA1841B9-B165-D701-7FBB-9ADBCBCDD0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D14291-5BF4-7945-A02C-7934FCF2625C}"/>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4149160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632455-F322-6622-BEE8-4CEE9367FA9A}"/>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3" name="Footer Placeholder 2">
            <a:extLst>
              <a:ext uri="{FF2B5EF4-FFF2-40B4-BE49-F238E27FC236}">
                <a16:creationId xmlns:a16="http://schemas.microsoft.com/office/drawing/2014/main" id="{6878885F-66CE-FC91-DC73-79C594B1EF1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C34E6A3-49CC-FF61-A8EF-884FDCC18B54}"/>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2969025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F9FD-DE32-9BB9-7C77-8A3CE4D05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851787-5A21-B2EB-E994-61708034B0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212D5B-1A60-42A5-163C-4EBD8CDCE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789B8-045F-9A56-0342-2617AC529E47}"/>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6" name="Footer Placeholder 5">
            <a:extLst>
              <a:ext uri="{FF2B5EF4-FFF2-40B4-BE49-F238E27FC236}">
                <a16:creationId xmlns:a16="http://schemas.microsoft.com/office/drawing/2014/main" id="{0C62DDE3-37D4-194E-6BE9-645D4ABF9E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3B2BB9-A888-F9B3-ADE9-53F024913E8B}"/>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3348653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1BB8-5D04-C1EB-5182-AF9AC88D95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06D578E-6FD0-44E3-5BD6-3BF73F1384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E75AB9-D4A2-7D01-7551-F4A57F826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B81BCF-8A39-5199-C899-E74909CBAEA2}"/>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6" name="Footer Placeholder 5">
            <a:extLst>
              <a:ext uri="{FF2B5EF4-FFF2-40B4-BE49-F238E27FC236}">
                <a16:creationId xmlns:a16="http://schemas.microsoft.com/office/drawing/2014/main" id="{980066AD-925B-0981-92E6-1DEB893E8F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BB3D6D-9221-0CE3-24A0-2A7777D306B3}"/>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301691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C06A-65D1-6AF2-886A-68D18A25F9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12734-73D2-8490-DBFF-C72A9E019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087218-CDED-09D7-4CA7-D8E12A44E670}"/>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59012810-935A-25D2-8AEB-7635AE6F0F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CDD646-A907-BCA7-4761-8CE9EF04E6EF}"/>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274638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49A2CD-3881-1C60-022E-DF25965CAF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F4D099-1F3C-1B45-7EE7-3FE77E6ADD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EF37ED-A63D-496C-A770-30F4FE6435D3}"/>
              </a:ext>
            </a:extLst>
          </p:cNvPr>
          <p:cNvSpPr>
            <a:spLocks noGrp="1"/>
          </p:cNvSpPr>
          <p:nvPr>
            <p:ph type="dt" sz="half" idx="10"/>
          </p:nvPr>
        </p:nvSpPr>
        <p:spPr/>
        <p:txBody>
          <a:body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A16F30EE-D71E-F09F-DA55-1DF12D5215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1CAC7-AFA2-263B-B10A-C27470491D0F}"/>
              </a:ext>
            </a:extLst>
          </p:cNvPr>
          <p:cNvSpPr>
            <a:spLocks noGrp="1"/>
          </p:cNvSpPr>
          <p:nvPr>
            <p:ph type="sldNum" sz="quarter" idx="12"/>
          </p:nvPr>
        </p:nvSpPr>
        <p:spPr/>
        <p:txBody>
          <a:bodyPr/>
          <a:lstStyle/>
          <a:p>
            <a:fld id="{67FCF194-3BAF-498A-A8A8-01C1ED0CC97C}" type="slidenum">
              <a:rPr lang="en-IN" smtClean="0"/>
              <a:t>‹#›</a:t>
            </a:fld>
            <a:endParaRPr lang="en-IN"/>
          </a:p>
        </p:txBody>
      </p:sp>
    </p:spTree>
    <p:extLst>
      <p:ext uri="{BB962C8B-B14F-4D97-AF65-F5344CB8AC3E}">
        <p14:creationId xmlns:p14="http://schemas.microsoft.com/office/powerpoint/2010/main" val="69174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2DE0F8-7CE4-12CF-166E-750A0BEFF5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FBE505-458A-63E9-678A-26FA8EE56A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15DD24-56F4-ABD1-061C-77C37E2F9A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B5E92F-E1BE-4322-BB1D-B9EB9CDFE69F}" type="datetimeFigureOut">
              <a:rPr lang="en-IN" smtClean="0"/>
              <a:t>14-01-2026</a:t>
            </a:fld>
            <a:endParaRPr lang="en-IN"/>
          </a:p>
        </p:txBody>
      </p:sp>
      <p:sp>
        <p:nvSpPr>
          <p:cNvPr id="5" name="Footer Placeholder 4">
            <a:extLst>
              <a:ext uri="{FF2B5EF4-FFF2-40B4-BE49-F238E27FC236}">
                <a16:creationId xmlns:a16="http://schemas.microsoft.com/office/drawing/2014/main" id="{7BCFAC4E-3A15-B55B-4F5B-27B3F33867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F81FF74-9E2C-02F9-3DCB-23871D61B8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FCF194-3BAF-498A-A8A8-01C1ED0CC97C}" type="slidenum">
              <a:rPr lang="en-IN" smtClean="0"/>
              <a:t>‹#›</a:t>
            </a:fld>
            <a:endParaRPr lang="en-IN"/>
          </a:p>
        </p:txBody>
      </p:sp>
    </p:spTree>
    <p:extLst>
      <p:ext uri="{BB962C8B-B14F-4D97-AF65-F5344CB8AC3E}">
        <p14:creationId xmlns:p14="http://schemas.microsoft.com/office/powerpoint/2010/main" val="2862207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bseindia.com/" TargetMode="External"/><Relationship Id="rId7" Type="http://schemas.openxmlformats.org/officeDocument/2006/relationships/hyperlink" Target="https://www.moneycontrol.com/" TargetMode="External"/><Relationship Id="rId2" Type="http://schemas.openxmlformats.org/officeDocument/2006/relationships/hyperlink" Target="https://in.investing.com/" TargetMode="External"/><Relationship Id="rId1" Type="http://schemas.openxmlformats.org/officeDocument/2006/relationships/slideLayout" Target="../slideLayouts/slideLayout7.xml"/><Relationship Id="rId6" Type="http://schemas.openxmlformats.org/officeDocument/2006/relationships/hyperlink" Target="https://www.screener.in/" TargetMode="External"/><Relationship Id="rId5" Type="http://schemas.openxmlformats.org/officeDocument/2006/relationships/hyperlink" Target="https://www.market-risk-premia.com/" TargetMode="External"/><Relationship Id="rId4" Type="http://schemas.openxmlformats.org/officeDocument/2006/relationships/hyperlink" Target="https://www.morningstar.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0E9115-FC15-6AC1-2186-862879803200}"/>
              </a:ext>
            </a:extLst>
          </p:cNvPr>
          <p:cNvSpPr/>
          <p:nvPr/>
        </p:nvSpPr>
        <p:spPr>
          <a:xfrm>
            <a:off x="1" y="1771155"/>
            <a:ext cx="12191999" cy="3477613"/>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B841FA5-288D-47FD-0D64-6B01B3FBE865}"/>
              </a:ext>
            </a:extLst>
          </p:cNvPr>
          <p:cNvSpPr>
            <a:spLocks noGrp="1"/>
          </p:cNvSpPr>
          <p:nvPr>
            <p:ph type="ctrTitle"/>
          </p:nvPr>
        </p:nvSpPr>
        <p:spPr>
          <a:xfrm>
            <a:off x="1524000" y="2216989"/>
            <a:ext cx="9144000" cy="947917"/>
          </a:xfrm>
        </p:spPr>
        <p:txBody>
          <a:bodyPr/>
          <a:lstStyle/>
          <a:p>
            <a:r>
              <a:rPr lang="en-IN" dirty="0">
                <a:solidFill>
                  <a:schemeClr val="bg1"/>
                </a:solidFill>
                <a:latin typeface="Book Antiqua" panose="02040602050305030304" pitchFamily="18" charset="0"/>
              </a:rPr>
              <a:t>Valuing S&amp;P BSE 100</a:t>
            </a:r>
          </a:p>
        </p:txBody>
      </p:sp>
      <p:sp>
        <p:nvSpPr>
          <p:cNvPr id="3" name="Subtitle 2">
            <a:extLst>
              <a:ext uri="{FF2B5EF4-FFF2-40B4-BE49-F238E27FC236}">
                <a16:creationId xmlns:a16="http://schemas.microsoft.com/office/drawing/2014/main" id="{6BC22320-A7AB-8604-1B30-E63E9A92F743}"/>
              </a:ext>
            </a:extLst>
          </p:cNvPr>
          <p:cNvSpPr>
            <a:spLocks noGrp="1"/>
          </p:cNvSpPr>
          <p:nvPr>
            <p:ph type="subTitle" idx="1"/>
          </p:nvPr>
        </p:nvSpPr>
        <p:spPr>
          <a:xfrm>
            <a:off x="1524000" y="3256981"/>
            <a:ext cx="9144000" cy="1392656"/>
          </a:xfrm>
        </p:spPr>
        <p:txBody>
          <a:bodyPr/>
          <a:lstStyle/>
          <a:p>
            <a:r>
              <a:rPr lang="en-IN" dirty="0">
                <a:solidFill>
                  <a:schemeClr val="bg1"/>
                </a:solidFill>
                <a:latin typeface="Book Antiqua" panose="02040602050305030304" pitchFamily="18" charset="0"/>
              </a:rPr>
              <a:t>Approach and Methodology Paper</a:t>
            </a:r>
          </a:p>
          <a:p>
            <a:endParaRPr lang="en-IN" dirty="0">
              <a:solidFill>
                <a:schemeClr val="bg1"/>
              </a:solidFill>
              <a:latin typeface="Book Antiqua" panose="02040602050305030304" pitchFamily="18" charset="0"/>
            </a:endParaRPr>
          </a:p>
          <a:p>
            <a:r>
              <a:rPr lang="en-IN" dirty="0">
                <a:solidFill>
                  <a:schemeClr val="bg1"/>
                </a:solidFill>
                <a:latin typeface="Book Antiqua" panose="02040602050305030304" pitchFamily="18" charset="0"/>
              </a:rPr>
              <a:t>January, 2026</a:t>
            </a:r>
          </a:p>
        </p:txBody>
      </p:sp>
      <p:sp>
        <p:nvSpPr>
          <p:cNvPr id="4" name="TextBox 3">
            <a:extLst>
              <a:ext uri="{FF2B5EF4-FFF2-40B4-BE49-F238E27FC236}">
                <a16:creationId xmlns:a16="http://schemas.microsoft.com/office/drawing/2014/main" id="{995B82B0-FFD4-6FD7-B1D9-CDB4801422CC}"/>
              </a:ext>
            </a:extLst>
          </p:cNvPr>
          <p:cNvSpPr txBox="1"/>
          <p:nvPr/>
        </p:nvSpPr>
        <p:spPr>
          <a:xfrm>
            <a:off x="7953553" y="5537234"/>
            <a:ext cx="4054414" cy="646331"/>
          </a:xfrm>
          <a:prstGeom prst="rect">
            <a:avLst/>
          </a:prstGeom>
          <a:noFill/>
        </p:spPr>
        <p:txBody>
          <a:bodyPr wrap="square" rtlCol="0">
            <a:spAutoFit/>
          </a:bodyPr>
          <a:lstStyle/>
          <a:p>
            <a:r>
              <a:rPr lang="en-IN" sz="1200" b="1" dirty="0">
                <a:latin typeface="Calibri" panose="020F0502020204030204" pitchFamily="34" charset="0"/>
                <a:ea typeface="Calibri" panose="020F0502020204030204" pitchFamily="34" charset="0"/>
                <a:cs typeface="Calibri" panose="020F0502020204030204" pitchFamily="34" charset="0"/>
              </a:rPr>
              <a:t>Report Prepared by: </a:t>
            </a:r>
            <a:r>
              <a:rPr lang="en-IN" sz="1200" dirty="0">
                <a:latin typeface="Calibri" panose="020F0502020204030204" pitchFamily="34" charset="0"/>
                <a:ea typeface="Calibri" panose="020F0502020204030204" pitchFamily="34" charset="0"/>
                <a:cs typeface="Calibri" panose="020F0502020204030204" pitchFamily="34" charset="0"/>
              </a:rPr>
              <a:t>Karn Sharma</a:t>
            </a:r>
          </a:p>
          <a:p>
            <a:r>
              <a:rPr lang="en-IN" sz="1200" b="1" dirty="0">
                <a:latin typeface="Calibri" panose="020F0502020204030204" pitchFamily="34" charset="0"/>
                <a:ea typeface="Calibri" panose="020F0502020204030204" pitchFamily="34" charset="0"/>
                <a:cs typeface="Calibri" panose="020F0502020204030204" pitchFamily="34" charset="0"/>
              </a:rPr>
              <a:t>Guided by: </a:t>
            </a:r>
            <a:r>
              <a:rPr lang="en-IN" sz="1200" dirty="0">
                <a:latin typeface="Calibri" panose="020F0502020204030204" pitchFamily="34" charset="0"/>
                <a:ea typeface="Calibri" panose="020F0502020204030204" pitchFamily="34" charset="0"/>
                <a:cs typeface="Calibri" panose="020F0502020204030204" pitchFamily="34" charset="0"/>
              </a:rPr>
              <a:t>Parth Verma (Founder of The Valuation School)</a:t>
            </a:r>
          </a:p>
          <a:p>
            <a:endParaRPr lang="en-IN"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043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50378C-BBCF-7EC4-36E9-F1B0C2CA72A6}"/>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4733AFF-AFCF-28EB-B172-30963569C0B4}"/>
              </a:ext>
            </a:extLst>
          </p:cNvPr>
          <p:cNvSpPr txBox="1"/>
          <p:nvPr/>
        </p:nvSpPr>
        <p:spPr>
          <a:xfrm>
            <a:off x="319177" y="232913"/>
            <a:ext cx="2794959"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Contents</a:t>
            </a:r>
          </a:p>
        </p:txBody>
      </p:sp>
      <p:graphicFrame>
        <p:nvGraphicFramePr>
          <p:cNvPr id="5" name="Table 4">
            <a:extLst>
              <a:ext uri="{FF2B5EF4-FFF2-40B4-BE49-F238E27FC236}">
                <a16:creationId xmlns:a16="http://schemas.microsoft.com/office/drawing/2014/main" id="{DDEE0F4E-C2A3-DCBF-800D-4418A5C86500}"/>
              </a:ext>
            </a:extLst>
          </p:cNvPr>
          <p:cNvGraphicFramePr>
            <a:graphicFrameLocks noGrp="1"/>
          </p:cNvGraphicFramePr>
          <p:nvPr>
            <p:extLst>
              <p:ext uri="{D42A27DB-BD31-4B8C-83A1-F6EECF244321}">
                <p14:modId xmlns:p14="http://schemas.microsoft.com/office/powerpoint/2010/main" val="4046395415"/>
              </p:ext>
            </p:extLst>
          </p:nvPr>
        </p:nvGraphicFramePr>
        <p:xfrm>
          <a:off x="3997864" y="2506012"/>
          <a:ext cx="4196272" cy="1845975"/>
        </p:xfrm>
        <a:graphic>
          <a:graphicData uri="http://schemas.openxmlformats.org/drawingml/2006/table">
            <a:tbl>
              <a:tblPr firstRow="1" bandRow="1">
                <a:tableStyleId>{5940675A-B579-460E-94D1-54222C63F5DA}</a:tableStyleId>
              </a:tblPr>
              <a:tblGrid>
                <a:gridCol w="538672">
                  <a:extLst>
                    <a:ext uri="{9D8B030D-6E8A-4147-A177-3AD203B41FA5}">
                      <a16:colId xmlns:a16="http://schemas.microsoft.com/office/drawing/2014/main" val="557149472"/>
                    </a:ext>
                  </a:extLst>
                </a:gridCol>
                <a:gridCol w="3657600">
                  <a:extLst>
                    <a:ext uri="{9D8B030D-6E8A-4147-A177-3AD203B41FA5}">
                      <a16:colId xmlns:a16="http://schemas.microsoft.com/office/drawing/2014/main" val="3743143216"/>
                    </a:ext>
                  </a:extLst>
                </a:gridCol>
              </a:tblGrid>
              <a:tr h="369195">
                <a:tc>
                  <a:txBody>
                    <a:bodyPr/>
                    <a:lstStyle/>
                    <a:p>
                      <a:pPr algn="ctr"/>
                      <a:r>
                        <a:rPr lang="en-IN" dirty="0">
                          <a:solidFill>
                            <a:schemeClr val="bg1"/>
                          </a:solidFill>
                          <a:latin typeface="Book Antiqua" panose="02040602050305030304" pitchFamily="18" charset="0"/>
                        </a:rPr>
                        <a:t>1</a:t>
                      </a:r>
                    </a:p>
                  </a:txBody>
                  <a:tcPr anchor="ctr">
                    <a:solidFill>
                      <a:schemeClr val="accent5">
                        <a:lumMod val="75000"/>
                      </a:schemeClr>
                    </a:solidFill>
                  </a:tcPr>
                </a:tc>
                <a:tc>
                  <a:txBody>
                    <a:bodyPr/>
                    <a:lstStyle/>
                    <a:p>
                      <a:r>
                        <a:rPr lang="en-IN" dirty="0">
                          <a:solidFill>
                            <a:schemeClr val="bg1"/>
                          </a:solidFill>
                          <a:latin typeface="Book Antiqua" panose="02040602050305030304" pitchFamily="18" charset="0"/>
                        </a:rPr>
                        <a:t>Purpose</a:t>
                      </a:r>
                    </a:p>
                  </a:txBody>
                  <a:tcPr anchor="ctr">
                    <a:solidFill>
                      <a:schemeClr val="accent5">
                        <a:lumMod val="75000"/>
                      </a:schemeClr>
                    </a:solidFill>
                  </a:tcPr>
                </a:tc>
                <a:extLst>
                  <a:ext uri="{0D108BD9-81ED-4DB2-BD59-A6C34878D82A}">
                    <a16:rowId xmlns:a16="http://schemas.microsoft.com/office/drawing/2014/main" val="1692968152"/>
                  </a:ext>
                </a:extLst>
              </a:tr>
              <a:tr h="369195">
                <a:tc>
                  <a:txBody>
                    <a:bodyPr/>
                    <a:lstStyle/>
                    <a:p>
                      <a:pPr algn="ctr"/>
                      <a:r>
                        <a:rPr lang="en-US" dirty="0">
                          <a:solidFill>
                            <a:schemeClr val="tx1"/>
                          </a:solidFill>
                          <a:latin typeface="Book Antiqua" panose="02040602050305030304" pitchFamily="18" charset="0"/>
                        </a:rPr>
                        <a:t>2</a:t>
                      </a:r>
                      <a:endParaRPr lang="en-IN" dirty="0">
                        <a:solidFill>
                          <a:schemeClr val="tx1"/>
                        </a:solidFill>
                        <a:latin typeface="Book Antiqua" panose="02040602050305030304" pitchFamily="18" charset="0"/>
                      </a:endParaRPr>
                    </a:p>
                  </a:txBody>
                  <a:tcPr anchor="ctr">
                    <a:noFill/>
                  </a:tcPr>
                </a:tc>
                <a:tc>
                  <a:txBody>
                    <a:bodyPr/>
                    <a:lstStyle/>
                    <a:p>
                      <a:r>
                        <a:rPr lang="en-US" dirty="0">
                          <a:solidFill>
                            <a:schemeClr val="tx1"/>
                          </a:solidFill>
                          <a:latin typeface="Book Antiqua" panose="02040602050305030304" pitchFamily="18" charset="0"/>
                        </a:rPr>
                        <a:t>About the Index</a:t>
                      </a:r>
                      <a:endParaRPr lang="en-IN" dirty="0">
                        <a:solidFill>
                          <a:schemeClr val="tx1"/>
                        </a:solidFill>
                        <a:latin typeface="Book Antiqua" panose="02040602050305030304" pitchFamily="18" charset="0"/>
                      </a:endParaRPr>
                    </a:p>
                  </a:txBody>
                  <a:tcPr anchor="ctr">
                    <a:noFill/>
                  </a:tcPr>
                </a:tc>
                <a:extLst>
                  <a:ext uri="{0D108BD9-81ED-4DB2-BD59-A6C34878D82A}">
                    <a16:rowId xmlns:a16="http://schemas.microsoft.com/office/drawing/2014/main" val="2861673122"/>
                  </a:ext>
                </a:extLst>
              </a:tr>
              <a:tr h="369195">
                <a:tc>
                  <a:txBody>
                    <a:bodyPr/>
                    <a:lstStyle/>
                    <a:p>
                      <a:pPr algn="ctr"/>
                      <a:r>
                        <a:rPr lang="en-US" dirty="0">
                          <a:latin typeface="Book Antiqua" panose="02040602050305030304" pitchFamily="18" charset="0"/>
                        </a:rPr>
                        <a:t>3</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Approach and Methodology</a:t>
                      </a:r>
                    </a:p>
                  </a:txBody>
                  <a:tcPr anchor="ctr">
                    <a:noFill/>
                  </a:tcPr>
                </a:tc>
                <a:extLst>
                  <a:ext uri="{0D108BD9-81ED-4DB2-BD59-A6C34878D82A}">
                    <a16:rowId xmlns:a16="http://schemas.microsoft.com/office/drawing/2014/main" val="4247924110"/>
                  </a:ext>
                </a:extLst>
              </a:tr>
              <a:tr h="369195">
                <a:tc>
                  <a:txBody>
                    <a:bodyPr/>
                    <a:lstStyle/>
                    <a:p>
                      <a:pPr algn="ctr"/>
                      <a:r>
                        <a:rPr lang="en-US" dirty="0">
                          <a:latin typeface="Book Antiqua" panose="02040602050305030304" pitchFamily="18" charset="0"/>
                        </a:rPr>
                        <a:t>4</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Valuation</a:t>
                      </a:r>
                    </a:p>
                  </a:txBody>
                  <a:tcPr anchor="ctr">
                    <a:noFill/>
                  </a:tcPr>
                </a:tc>
                <a:extLst>
                  <a:ext uri="{0D108BD9-81ED-4DB2-BD59-A6C34878D82A}">
                    <a16:rowId xmlns:a16="http://schemas.microsoft.com/office/drawing/2014/main" val="874068749"/>
                  </a:ext>
                </a:extLst>
              </a:tr>
              <a:tr h="369195">
                <a:tc>
                  <a:txBody>
                    <a:bodyPr/>
                    <a:lstStyle/>
                    <a:p>
                      <a:pPr algn="ctr"/>
                      <a:r>
                        <a:rPr lang="en-US" dirty="0">
                          <a:latin typeface="Book Antiqua" panose="02040602050305030304" pitchFamily="18" charset="0"/>
                        </a:rPr>
                        <a:t>5</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Sources and Disclaimer</a:t>
                      </a:r>
                    </a:p>
                  </a:txBody>
                  <a:tcPr anchor="ctr">
                    <a:noFill/>
                  </a:tcPr>
                </a:tc>
                <a:extLst>
                  <a:ext uri="{0D108BD9-81ED-4DB2-BD59-A6C34878D82A}">
                    <a16:rowId xmlns:a16="http://schemas.microsoft.com/office/drawing/2014/main" val="3519947632"/>
                  </a:ext>
                </a:extLst>
              </a:tr>
            </a:tbl>
          </a:graphicData>
        </a:graphic>
      </p:graphicFrame>
    </p:spTree>
    <p:extLst>
      <p:ext uri="{BB962C8B-B14F-4D97-AF65-F5344CB8AC3E}">
        <p14:creationId xmlns:p14="http://schemas.microsoft.com/office/powerpoint/2010/main" val="3277719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99367-F5C2-BFCD-7B6D-73DC8159DA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8D571F-FAAF-F402-BE7B-18EE96EACB9A}"/>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6CD00A1-FC4F-6918-AC6D-F342BC2F2553}"/>
              </a:ext>
            </a:extLst>
          </p:cNvPr>
          <p:cNvSpPr txBox="1"/>
          <p:nvPr/>
        </p:nvSpPr>
        <p:spPr>
          <a:xfrm>
            <a:off x="319177" y="232913"/>
            <a:ext cx="5883215"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1. Purpose</a:t>
            </a:r>
          </a:p>
        </p:txBody>
      </p:sp>
      <p:sp>
        <p:nvSpPr>
          <p:cNvPr id="6" name="TextBox 5">
            <a:extLst>
              <a:ext uri="{FF2B5EF4-FFF2-40B4-BE49-F238E27FC236}">
                <a16:creationId xmlns:a16="http://schemas.microsoft.com/office/drawing/2014/main" id="{0E0060C4-00CC-0BE4-D4C0-E08150F0D6D9}"/>
              </a:ext>
            </a:extLst>
          </p:cNvPr>
          <p:cNvSpPr txBox="1"/>
          <p:nvPr/>
        </p:nvSpPr>
        <p:spPr>
          <a:xfrm>
            <a:off x="319178" y="1483743"/>
            <a:ext cx="3424686" cy="5262979"/>
          </a:xfrm>
          <a:prstGeom prst="rect">
            <a:avLst/>
          </a:prstGeom>
          <a:noFill/>
        </p:spPr>
        <p:txBody>
          <a:bodyPr wrap="square" rtlCol="0">
            <a:spAutoFit/>
          </a:bodyPr>
          <a:lstStyle/>
          <a:p>
            <a:pPr algn="just"/>
            <a:r>
              <a:rPr lang="en-IN" sz="1400" b="1" dirty="0">
                <a:latin typeface="Book Antiqua" panose="02040602050305030304" pitchFamily="18" charset="0"/>
              </a:rPr>
              <a:t>1.1 Brief 6-month Recap</a:t>
            </a:r>
          </a:p>
          <a:p>
            <a:pPr algn="just"/>
            <a:endParaRPr lang="en-IN" sz="1400" dirty="0"/>
          </a:p>
          <a:p>
            <a:pPr algn="just"/>
            <a:r>
              <a:rPr lang="en-US" sz="1400" dirty="0">
                <a:latin typeface="Calibri" panose="020F0502020204030204" pitchFamily="34" charset="0"/>
                <a:ea typeface="Calibri" panose="020F0502020204030204" pitchFamily="34" charset="0"/>
                <a:cs typeface="Calibri" panose="020F0502020204030204" pitchFamily="34" charset="0"/>
              </a:rPr>
              <a:t>Over the past six months the BSE 100 has shown low </a:t>
            </a:r>
            <a:r>
              <a:rPr lang="en-US" sz="1400" dirty="0">
                <a:highlight>
                  <a:srgbClr val="FFFF00"/>
                </a:highlight>
                <a:latin typeface="Calibri" panose="020F0502020204030204" pitchFamily="34" charset="0"/>
                <a:ea typeface="Calibri" panose="020F0502020204030204" pitchFamily="34" charset="0"/>
                <a:cs typeface="Calibri" panose="020F0502020204030204" pitchFamily="34" charset="0"/>
              </a:rPr>
              <a:t>positive returns of around 3.3 percent</a:t>
            </a:r>
            <a:r>
              <a:rPr lang="en-US" sz="1400" dirty="0">
                <a:latin typeface="Calibri" panose="020F0502020204030204" pitchFamily="34" charset="0"/>
                <a:ea typeface="Calibri" panose="020F0502020204030204" pitchFamily="34" charset="0"/>
                <a:cs typeface="Calibri" panose="020F0502020204030204" pitchFamily="34" charset="0"/>
              </a:rPr>
              <a:t>, climbing from lower levels toward a near 52-week high and all-time high amid market consolidation.</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 Favorable domestic investor sentiment along with stable earning in large-cap constituents, have pulled the index upwards since March 2025, despite geopolitical volatility and mixed sector performance affecting its momentum. </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i="1" dirty="0">
                <a:latin typeface="Calibri" panose="020F0502020204030204" pitchFamily="34" charset="0"/>
                <a:ea typeface="Calibri" panose="020F0502020204030204" pitchFamily="34" charset="0"/>
                <a:cs typeface="Calibri" panose="020F0502020204030204" pitchFamily="34" charset="0"/>
              </a:rPr>
              <a:t>The image is a representation of BSE 100’s consolidation state over the past one year in relation to BSE’s  small and midcap indices. From the start of 2025, top 100 stock have been able to withstand geopolitical currents, while small and midcap market witnesses a slump. </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endParaRPr lang="en-US" sz="1400" dirty="0"/>
          </a:p>
        </p:txBody>
      </p:sp>
      <p:pic>
        <p:nvPicPr>
          <p:cNvPr id="10" name="Picture 9">
            <a:extLst>
              <a:ext uri="{FF2B5EF4-FFF2-40B4-BE49-F238E27FC236}">
                <a16:creationId xmlns:a16="http://schemas.microsoft.com/office/drawing/2014/main" id="{7127355B-092A-B3D9-E9DA-403AE183AB1F}"/>
              </a:ext>
            </a:extLst>
          </p:cNvPr>
          <p:cNvPicPr>
            <a:picLocks noChangeAspect="1"/>
          </p:cNvPicPr>
          <p:nvPr/>
        </p:nvPicPr>
        <p:blipFill>
          <a:blip r:embed="rId2">
            <a:extLst>
              <a:ext uri="{28A0092B-C50C-407E-A947-70E740481C1C}">
                <a14:useLocalDpi xmlns:a14="http://schemas.microsoft.com/office/drawing/2010/main" val="0"/>
              </a:ext>
            </a:extLst>
          </a:blip>
          <a:srcRect t="2675" b="5830"/>
          <a:stretch>
            <a:fillRect/>
          </a:stretch>
        </p:blipFill>
        <p:spPr>
          <a:xfrm>
            <a:off x="3804246" y="1872364"/>
            <a:ext cx="8133598" cy="4485736"/>
          </a:xfrm>
          <a:prstGeom prst="rect">
            <a:avLst/>
          </a:prstGeom>
        </p:spPr>
      </p:pic>
    </p:spTree>
    <p:extLst>
      <p:ext uri="{BB962C8B-B14F-4D97-AF65-F5344CB8AC3E}">
        <p14:creationId xmlns:p14="http://schemas.microsoft.com/office/powerpoint/2010/main" val="2725762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43A7-6B7A-DC47-4EF2-3D7CE91435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0C1F80-6D4A-E26C-9B03-32B8D3E90E5B}"/>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C0BD753-31EF-AB4B-F492-4D13EE90A616}"/>
              </a:ext>
            </a:extLst>
          </p:cNvPr>
          <p:cNvSpPr txBox="1"/>
          <p:nvPr/>
        </p:nvSpPr>
        <p:spPr>
          <a:xfrm>
            <a:off x="319177" y="232913"/>
            <a:ext cx="5883215"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1. Purpose</a:t>
            </a:r>
          </a:p>
        </p:txBody>
      </p:sp>
      <p:sp>
        <p:nvSpPr>
          <p:cNvPr id="6" name="TextBox 5">
            <a:extLst>
              <a:ext uri="{FF2B5EF4-FFF2-40B4-BE49-F238E27FC236}">
                <a16:creationId xmlns:a16="http://schemas.microsoft.com/office/drawing/2014/main" id="{428528E1-C847-78CA-C41E-B0B7B458FB08}"/>
              </a:ext>
            </a:extLst>
          </p:cNvPr>
          <p:cNvSpPr txBox="1"/>
          <p:nvPr/>
        </p:nvSpPr>
        <p:spPr>
          <a:xfrm>
            <a:off x="319177" y="1483743"/>
            <a:ext cx="11533517" cy="1600438"/>
          </a:xfrm>
          <a:prstGeom prst="rect">
            <a:avLst/>
          </a:prstGeom>
          <a:noFill/>
        </p:spPr>
        <p:txBody>
          <a:bodyPr wrap="square" rtlCol="0">
            <a:spAutoFit/>
          </a:bodyPr>
          <a:lstStyle/>
          <a:p>
            <a:pPr algn="just"/>
            <a:r>
              <a:rPr lang="en-US" sz="1400" b="1" dirty="0">
                <a:latin typeface="Book Antiqua" panose="02040602050305030304" pitchFamily="18" charset="0"/>
              </a:rPr>
              <a:t>1.2 Purpose</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The primary purpose of this methodology paper </a:t>
            </a:r>
            <a:r>
              <a:rPr lang="en-US" sz="1400" i="1" dirty="0">
                <a:latin typeface="Calibri" panose="020F0502020204030204" pitchFamily="34" charset="0"/>
                <a:ea typeface="Calibri" panose="020F0502020204030204" pitchFamily="34" charset="0"/>
                <a:cs typeface="Calibri" panose="020F0502020204030204" pitchFamily="34" charset="0"/>
              </a:rPr>
              <a:t>is not to determine the exact valuation of the BSE 100 Index</a:t>
            </a:r>
            <a:r>
              <a:rPr lang="en-US" sz="1400" dirty="0">
                <a:latin typeface="Calibri" panose="020F0502020204030204" pitchFamily="34" charset="0"/>
                <a:ea typeface="Calibri" panose="020F0502020204030204" pitchFamily="34" charset="0"/>
                <a:cs typeface="Calibri" panose="020F0502020204030204" pitchFamily="34" charset="0"/>
              </a:rPr>
              <a:t>. It simply applies Prof. Aswath Damodaran’s valuation principles and techniques that he uses in the valuation of equity instruments. Given the availability of the information and the current state of the Indian Equity markets, this model relies heavily on proxies for cash flows and assumption rates. The results therefore signify only what the I believe are the best possible metrics that can be used in order to reach an approximated intrinsic value of this index. </a:t>
            </a:r>
            <a:r>
              <a:rPr lang="en-US" sz="1400" b="1" dirty="0">
                <a:latin typeface="Calibri" panose="020F0502020204030204" pitchFamily="34" charset="0"/>
                <a:ea typeface="Calibri" panose="020F0502020204030204" pitchFamily="34" charset="0"/>
                <a:cs typeface="Calibri" panose="020F0502020204030204" pitchFamily="34" charset="0"/>
              </a:rPr>
              <a:t>This is nothing but a demonstration of Damodaran’s principles being applied to the financials of an index, helping me building a foundation of how a DCF model works.</a:t>
            </a:r>
            <a:endParaRPr lang="en-IN" sz="1400" b="1" dirty="0"/>
          </a:p>
        </p:txBody>
      </p:sp>
    </p:spTree>
    <p:extLst>
      <p:ext uri="{BB962C8B-B14F-4D97-AF65-F5344CB8AC3E}">
        <p14:creationId xmlns:p14="http://schemas.microsoft.com/office/powerpoint/2010/main" val="2054306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930D-85A1-2770-121A-2E5049ECB6A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62E960-5351-8A0E-6B45-6266133BC993}"/>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9F3A52B-7092-3CF0-C25E-951C9FE7EA4F}"/>
              </a:ext>
            </a:extLst>
          </p:cNvPr>
          <p:cNvSpPr txBox="1"/>
          <p:nvPr/>
        </p:nvSpPr>
        <p:spPr>
          <a:xfrm>
            <a:off x="319177" y="232913"/>
            <a:ext cx="2794959"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Contents</a:t>
            </a:r>
          </a:p>
        </p:txBody>
      </p:sp>
      <p:graphicFrame>
        <p:nvGraphicFramePr>
          <p:cNvPr id="5" name="Table 4">
            <a:extLst>
              <a:ext uri="{FF2B5EF4-FFF2-40B4-BE49-F238E27FC236}">
                <a16:creationId xmlns:a16="http://schemas.microsoft.com/office/drawing/2014/main" id="{6B7EC7DA-BBD3-D7CB-7169-ACF72D17DEA6}"/>
              </a:ext>
            </a:extLst>
          </p:cNvPr>
          <p:cNvGraphicFramePr>
            <a:graphicFrameLocks noGrp="1"/>
          </p:cNvGraphicFramePr>
          <p:nvPr>
            <p:extLst>
              <p:ext uri="{D42A27DB-BD31-4B8C-83A1-F6EECF244321}">
                <p14:modId xmlns:p14="http://schemas.microsoft.com/office/powerpoint/2010/main" val="3418951768"/>
              </p:ext>
            </p:extLst>
          </p:nvPr>
        </p:nvGraphicFramePr>
        <p:xfrm>
          <a:off x="3997864" y="2506012"/>
          <a:ext cx="4196272" cy="1845975"/>
        </p:xfrm>
        <a:graphic>
          <a:graphicData uri="http://schemas.openxmlformats.org/drawingml/2006/table">
            <a:tbl>
              <a:tblPr firstRow="1" bandRow="1">
                <a:tableStyleId>{5940675A-B579-460E-94D1-54222C63F5DA}</a:tableStyleId>
              </a:tblPr>
              <a:tblGrid>
                <a:gridCol w="538672">
                  <a:extLst>
                    <a:ext uri="{9D8B030D-6E8A-4147-A177-3AD203B41FA5}">
                      <a16:colId xmlns:a16="http://schemas.microsoft.com/office/drawing/2014/main" val="557149472"/>
                    </a:ext>
                  </a:extLst>
                </a:gridCol>
                <a:gridCol w="3657600">
                  <a:extLst>
                    <a:ext uri="{9D8B030D-6E8A-4147-A177-3AD203B41FA5}">
                      <a16:colId xmlns:a16="http://schemas.microsoft.com/office/drawing/2014/main" val="3743143216"/>
                    </a:ext>
                  </a:extLst>
                </a:gridCol>
              </a:tblGrid>
              <a:tr h="369195">
                <a:tc>
                  <a:txBody>
                    <a:bodyPr/>
                    <a:lstStyle/>
                    <a:p>
                      <a:pPr algn="ctr"/>
                      <a:r>
                        <a:rPr lang="en-IN" dirty="0">
                          <a:solidFill>
                            <a:schemeClr val="tx1"/>
                          </a:solidFill>
                          <a:latin typeface="Book Antiqua" panose="02040602050305030304" pitchFamily="18" charset="0"/>
                        </a:rPr>
                        <a:t>1</a:t>
                      </a:r>
                    </a:p>
                  </a:txBody>
                  <a:tcPr anchor="ctr">
                    <a:solidFill>
                      <a:schemeClr val="bg1"/>
                    </a:solidFill>
                  </a:tcPr>
                </a:tc>
                <a:tc>
                  <a:txBody>
                    <a:bodyPr/>
                    <a:lstStyle/>
                    <a:p>
                      <a:r>
                        <a:rPr lang="en-IN" dirty="0">
                          <a:solidFill>
                            <a:schemeClr val="tx1"/>
                          </a:solidFill>
                          <a:latin typeface="Book Antiqua" panose="02040602050305030304" pitchFamily="18" charset="0"/>
                        </a:rPr>
                        <a:t>Purpose</a:t>
                      </a:r>
                    </a:p>
                  </a:txBody>
                  <a:tcPr anchor="ctr">
                    <a:solidFill>
                      <a:schemeClr val="bg1"/>
                    </a:solidFill>
                  </a:tcPr>
                </a:tc>
                <a:extLst>
                  <a:ext uri="{0D108BD9-81ED-4DB2-BD59-A6C34878D82A}">
                    <a16:rowId xmlns:a16="http://schemas.microsoft.com/office/drawing/2014/main" val="1692968152"/>
                  </a:ext>
                </a:extLst>
              </a:tr>
              <a:tr h="369195">
                <a:tc>
                  <a:txBody>
                    <a:bodyPr/>
                    <a:lstStyle/>
                    <a:p>
                      <a:pPr algn="ctr"/>
                      <a:r>
                        <a:rPr lang="en-US" dirty="0">
                          <a:solidFill>
                            <a:schemeClr val="bg1"/>
                          </a:solidFill>
                          <a:latin typeface="Book Antiqua" panose="02040602050305030304" pitchFamily="18" charset="0"/>
                        </a:rPr>
                        <a:t>2</a:t>
                      </a:r>
                      <a:endParaRPr lang="en-IN" dirty="0">
                        <a:solidFill>
                          <a:schemeClr val="bg1"/>
                        </a:solidFill>
                        <a:latin typeface="Book Antiqua" panose="02040602050305030304" pitchFamily="18" charset="0"/>
                      </a:endParaRPr>
                    </a:p>
                  </a:txBody>
                  <a:tcPr anchor="ctr">
                    <a:solidFill>
                      <a:schemeClr val="accent5">
                        <a:lumMod val="75000"/>
                      </a:schemeClr>
                    </a:solidFill>
                  </a:tcPr>
                </a:tc>
                <a:tc>
                  <a:txBody>
                    <a:bodyPr/>
                    <a:lstStyle/>
                    <a:p>
                      <a:r>
                        <a:rPr lang="en-US" dirty="0">
                          <a:solidFill>
                            <a:schemeClr val="bg1"/>
                          </a:solidFill>
                          <a:latin typeface="Book Antiqua" panose="02040602050305030304" pitchFamily="18" charset="0"/>
                        </a:rPr>
                        <a:t>About the Index</a:t>
                      </a:r>
                      <a:endParaRPr lang="en-IN" dirty="0">
                        <a:solidFill>
                          <a:schemeClr val="bg1"/>
                        </a:solidFill>
                        <a:latin typeface="Book Antiqua" panose="02040602050305030304" pitchFamily="18" charset="0"/>
                      </a:endParaRPr>
                    </a:p>
                  </a:txBody>
                  <a:tcPr anchor="ctr">
                    <a:solidFill>
                      <a:schemeClr val="accent5">
                        <a:lumMod val="75000"/>
                      </a:schemeClr>
                    </a:solidFill>
                  </a:tcPr>
                </a:tc>
                <a:extLst>
                  <a:ext uri="{0D108BD9-81ED-4DB2-BD59-A6C34878D82A}">
                    <a16:rowId xmlns:a16="http://schemas.microsoft.com/office/drawing/2014/main" val="2861673122"/>
                  </a:ext>
                </a:extLst>
              </a:tr>
              <a:tr h="369195">
                <a:tc>
                  <a:txBody>
                    <a:bodyPr/>
                    <a:lstStyle/>
                    <a:p>
                      <a:pPr algn="ctr"/>
                      <a:r>
                        <a:rPr lang="en-US" dirty="0">
                          <a:latin typeface="Book Antiqua" panose="02040602050305030304" pitchFamily="18" charset="0"/>
                        </a:rPr>
                        <a:t>3</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Approach and Methodology</a:t>
                      </a:r>
                    </a:p>
                  </a:txBody>
                  <a:tcPr anchor="ctr">
                    <a:noFill/>
                  </a:tcPr>
                </a:tc>
                <a:extLst>
                  <a:ext uri="{0D108BD9-81ED-4DB2-BD59-A6C34878D82A}">
                    <a16:rowId xmlns:a16="http://schemas.microsoft.com/office/drawing/2014/main" val="4247924110"/>
                  </a:ext>
                </a:extLst>
              </a:tr>
              <a:tr h="369195">
                <a:tc>
                  <a:txBody>
                    <a:bodyPr/>
                    <a:lstStyle/>
                    <a:p>
                      <a:pPr algn="ctr"/>
                      <a:r>
                        <a:rPr lang="en-US" dirty="0">
                          <a:latin typeface="Book Antiqua" panose="02040602050305030304" pitchFamily="18" charset="0"/>
                        </a:rPr>
                        <a:t>4</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Valuation</a:t>
                      </a:r>
                    </a:p>
                  </a:txBody>
                  <a:tcPr anchor="ctr">
                    <a:noFill/>
                  </a:tcPr>
                </a:tc>
                <a:extLst>
                  <a:ext uri="{0D108BD9-81ED-4DB2-BD59-A6C34878D82A}">
                    <a16:rowId xmlns:a16="http://schemas.microsoft.com/office/drawing/2014/main" val="874068749"/>
                  </a:ext>
                </a:extLst>
              </a:tr>
              <a:tr h="369195">
                <a:tc>
                  <a:txBody>
                    <a:bodyPr/>
                    <a:lstStyle/>
                    <a:p>
                      <a:pPr algn="ctr"/>
                      <a:r>
                        <a:rPr lang="en-US" dirty="0">
                          <a:latin typeface="Book Antiqua" panose="02040602050305030304" pitchFamily="18" charset="0"/>
                        </a:rPr>
                        <a:t>5</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Sources and Disclaimer</a:t>
                      </a:r>
                    </a:p>
                  </a:txBody>
                  <a:tcPr anchor="ctr">
                    <a:noFill/>
                  </a:tcPr>
                </a:tc>
                <a:extLst>
                  <a:ext uri="{0D108BD9-81ED-4DB2-BD59-A6C34878D82A}">
                    <a16:rowId xmlns:a16="http://schemas.microsoft.com/office/drawing/2014/main" val="3519947632"/>
                  </a:ext>
                </a:extLst>
              </a:tr>
            </a:tbl>
          </a:graphicData>
        </a:graphic>
      </p:graphicFrame>
    </p:spTree>
    <p:extLst>
      <p:ext uri="{BB962C8B-B14F-4D97-AF65-F5344CB8AC3E}">
        <p14:creationId xmlns:p14="http://schemas.microsoft.com/office/powerpoint/2010/main" val="4058136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7C373-73EB-CEEC-E0E7-671CD81D319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00B581-3D58-41FD-77CC-FBE557F5BC4F}"/>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D079480-5DA8-4DF0-CB26-CA1C5DF67F76}"/>
              </a:ext>
            </a:extLst>
          </p:cNvPr>
          <p:cNvSpPr txBox="1"/>
          <p:nvPr/>
        </p:nvSpPr>
        <p:spPr>
          <a:xfrm>
            <a:off x="319177" y="232913"/>
            <a:ext cx="7427344"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2. About the Index</a:t>
            </a:r>
          </a:p>
        </p:txBody>
      </p:sp>
      <p:sp>
        <p:nvSpPr>
          <p:cNvPr id="5" name="TextBox 4">
            <a:extLst>
              <a:ext uri="{FF2B5EF4-FFF2-40B4-BE49-F238E27FC236}">
                <a16:creationId xmlns:a16="http://schemas.microsoft.com/office/drawing/2014/main" id="{434BD8FC-EFE0-D1C3-3CBC-862ECF16AF9D}"/>
              </a:ext>
            </a:extLst>
          </p:cNvPr>
          <p:cNvSpPr txBox="1"/>
          <p:nvPr/>
        </p:nvSpPr>
        <p:spPr>
          <a:xfrm>
            <a:off x="319177" y="1483743"/>
            <a:ext cx="5598544" cy="3662541"/>
          </a:xfrm>
          <a:prstGeom prst="rect">
            <a:avLst/>
          </a:prstGeom>
          <a:noFill/>
        </p:spPr>
        <p:txBody>
          <a:bodyPr wrap="square" rtlCol="0">
            <a:spAutoFit/>
          </a:bodyPr>
          <a:lstStyle/>
          <a:p>
            <a:pPr algn="just"/>
            <a:r>
              <a:rPr lang="en-US" sz="1400" b="1" dirty="0">
                <a:latin typeface="Book Antiqua" panose="02040602050305030304" pitchFamily="18" charset="0"/>
                <a:ea typeface="Calibri" panose="020F0502020204030204" pitchFamily="34" charset="0"/>
                <a:cs typeface="Calibri" panose="020F0502020204030204" pitchFamily="34" charset="0"/>
              </a:rPr>
              <a:t>2.1 About</a:t>
            </a:r>
          </a:p>
          <a:p>
            <a:pPr algn="just"/>
            <a:r>
              <a:rPr lang="en-US" sz="1400" dirty="0">
                <a:latin typeface="Calibri" panose="020F0502020204030204" pitchFamily="34" charset="0"/>
                <a:ea typeface="Calibri" panose="020F0502020204030204" pitchFamily="34" charset="0"/>
                <a:cs typeface="Calibri" panose="020F0502020204030204" pitchFamily="34" charset="0"/>
              </a:rPr>
              <a:t>The BSE 100 is India's benchmark stock index tracking the performance of the top 100 large-cap, highly liquid companies listed on BSE, reflecting diverse sectors and the broader Indian economy, weighted by free-float market capitalization, and serves as a key gauge for investors and fund managers to assess market health and investment performance. </a:t>
            </a:r>
          </a:p>
          <a:p>
            <a:pPr algn="just"/>
            <a:endParaRPr lang="en-US" sz="1100" dirty="0">
              <a:latin typeface="Calibri" panose="020F0502020204030204" pitchFamily="34" charset="0"/>
              <a:ea typeface="Calibri" panose="020F0502020204030204" pitchFamily="34" charset="0"/>
              <a:cs typeface="Calibri" panose="020F0502020204030204" pitchFamily="34" charset="0"/>
            </a:endParaRPr>
          </a:p>
          <a:p>
            <a:pPr algn="just"/>
            <a:r>
              <a:rPr lang="en-US" sz="1400" b="1" dirty="0">
                <a:latin typeface="Book Antiqua" panose="02040602050305030304" pitchFamily="18" charset="0"/>
                <a:ea typeface="Calibri" panose="020F0502020204030204" pitchFamily="34" charset="0"/>
                <a:cs typeface="Calibri" panose="020F0502020204030204" pitchFamily="34" charset="0"/>
              </a:rPr>
              <a:t>2.2 Purpose</a:t>
            </a:r>
          </a:p>
          <a:p>
            <a:pPr algn="just"/>
            <a:r>
              <a:rPr lang="en-US" sz="1400" dirty="0">
                <a:latin typeface="Calibri" panose="020F0502020204030204" pitchFamily="34" charset="0"/>
                <a:ea typeface="Calibri" panose="020F0502020204030204" pitchFamily="34" charset="0"/>
                <a:cs typeface="Calibri" panose="020F0502020204030204" pitchFamily="34" charset="0"/>
              </a:rPr>
              <a:t>To track the performance of the top 100 blue-chip companies, serving as a benchmark for large-cap Indian equities</a:t>
            </a:r>
          </a:p>
          <a:p>
            <a:pPr algn="just"/>
            <a:endParaRPr lang="en-US" sz="1100" dirty="0">
              <a:latin typeface="Calibri" panose="020F0502020204030204" pitchFamily="34" charset="0"/>
              <a:ea typeface="Calibri" panose="020F0502020204030204" pitchFamily="34" charset="0"/>
              <a:cs typeface="Calibri" panose="020F0502020204030204" pitchFamily="34" charset="0"/>
            </a:endParaRPr>
          </a:p>
          <a:p>
            <a:pPr algn="just"/>
            <a:r>
              <a:rPr lang="en-US" sz="1400" b="1" dirty="0">
                <a:latin typeface="Book Antiqua" panose="02040602050305030304" pitchFamily="18" charset="0"/>
                <a:ea typeface="Calibri" panose="020F0502020204030204" pitchFamily="34" charset="0"/>
                <a:cs typeface="Calibri" panose="020F0502020204030204" pitchFamily="34" charset="0"/>
              </a:rPr>
              <a:t>2.3 History</a:t>
            </a:r>
          </a:p>
          <a:p>
            <a:pPr algn="just"/>
            <a:r>
              <a:rPr lang="en-US" sz="1400" dirty="0">
                <a:latin typeface="Calibri" panose="020F0502020204030204" pitchFamily="34" charset="0"/>
                <a:ea typeface="Calibri" panose="020F0502020204030204" pitchFamily="34" charset="0"/>
                <a:cs typeface="Calibri" panose="020F0502020204030204" pitchFamily="34" charset="0"/>
              </a:rPr>
              <a:t>Launched in 1989 (originally called BSE National Index) and later renamed</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b="1" dirty="0">
                <a:latin typeface="Book Antiqua" panose="02040602050305030304" pitchFamily="18" charset="0"/>
                <a:ea typeface="Calibri" panose="020F0502020204030204" pitchFamily="34" charset="0"/>
                <a:cs typeface="Calibri" panose="020F0502020204030204" pitchFamily="34" charset="0"/>
              </a:rPr>
              <a:t>2.4 Composition</a:t>
            </a:r>
          </a:p>
          <a:p>
            <a:pPr algn="just"/>
            <a:r>
              <a:rPr lang="en-US" sz="1400" dirty="0">
                <a:latin typeface="Calibri" panose="020F0502020204030204" pitchFamily="34" charset="0"/>
                <a:ea typeface="Calibri" panose="020F0502020204030204" pitchFamily="34" charset="0"/>
                <a:cs typeface="Calibri" panose="020F0502020204030204" pitchFamily="34" charset="0"/>
              </a:rPr>
              <a:t>Given along is the sector composition of the Index based on the top 100 large-cap Indian Stocks’ respective sectors.</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B8A4FBD3-0720-4407-CAD7-E0556D15763F}"/>
              </a:ext>
            </a:extLst>
          </p:cNvPr>
          <p:cNvGraphicFramePr>
            <a:graphicFrameLocks noGrp="1"/>
          </p:cNvGraphicFramePr>
          <p:nvPr>
            <p:extLst>
              <p:ext uri="{D42A27DB-BD31-4B8C-83A1-F6EECF244321}">
                <p14:modId xmlns:p14="http://schemas.microsoft.com/office/powerpoint/2010/main" val="3978902053"/>
              </p:ext>
            </p:extLst>
          </p:nvPr>
        </p:nvGraphicFramePr>
        <p:xfrm>
          <a:off x="6274281" y="1483743"/>
          <a:ext cx="5470586" cy="4093428"/>
        </p:xfrm>
        <a:graphic>
          <a:graphicData uri="http://schemas.openxmlformats.org/drawingml/2006/table">
            <a:tbl>
              <a:tblPr>
                <a:tableStyleId>{7DF18680-E054-41AD-8BC1-D1AEF772440D}</a:tableStyleId>
              </a:tblPr>
              <a:tblGrid>
                <a:gridCol w="3348916">
                  <a:extLst>
                    <a:ext uri="{9D8B030D-6E8A-4147-A177-3AD203B41FA5}">
                      <a16:colId xmlns:a16="http://schemas.microsoft.com/office/drawing/2014/main" val="3843472412"/>
                    </a:ext>
                  </a:extLst>
                </a:gridCol>
                <a:gridCol w="2121670">
                  <a:extLst>
                    <a:ext uri="{9D8B030D-6E8A-4147-A177-3AD203B41FA5}">
                      <a16:colId xmlns:a16="http://schemas.microsoft.com/office/drawing/2014/main" val="2497647412"/>
                    </a:ext>
                  </a:extLst>
                </a:gridCol>
              </a:tblGrid>
              <a:tr h="341119">
                <a:tc>
                  <a:txBody>
                    <a:bodyPr/>
                    <a:lstStyle/>
                    <a:p>
                      <a:pPr algn="ctr" fontAlgn="b">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Sector</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5">
                        <a:lumMod val="75000"/>
                      </a:schemeClr>
                    </a:solidFill>
                  </a:tcPr>
                </a:tc>
                <a:tc>
                  <a:txBody>
                    <a:bodyPr/>
                    <a:lstStyle/>
                    <a:p>
                      <a:pPr algn="ctr" fontAlgn="b">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Weightage %</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5">
                        <a:lumMod val="75000"/>
                      </a:schemeClr>
                    </a:solidFill>
                  </a:tcPr>
                </a:tc>
                <a:extLst>
                  <a:ext uri="{0D108BD9-81ED-4DB2-BD59-A6C34878D82A}">
                    <a16:rowId xmlns:a16="http://schemas.microsoft.com/office/drawing/2014/main" val="1496190943"/>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Basic Materials</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6.37</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905070738"/>
                  </a:ext>
                </a:extLst>
              </a:tr>
              <a:tr h="341119">
                <a:tc>
                  <a:txBody>
                    <a:bodyPr/>
                    <a:lstStyle/>
                    <a:p>
                      <a:pPr algn="ctr" fontAlgn="b">
                        <a:buNone/>
                      </a:pPr>
                      <a:r>
                        <a:rPr lang="en-IN" sz="1400" u="none" strike="noStrike">
                          <a:effectLst/>
                          <a:latin typeface="Calibri" panose="020F0502020204030204" pitchFamily="34" charset="0"/>
                          <a:ea typeface="Calibri" panose="020F0502020204030204" pitchFamily="34" charset="0"/>
                          <a:cs typeface="Calibri" panose="020F0502020204030204" pitchFamily="34" charset="0"/>
                        </a:rPr>
                        <a:t>Consumer Cyclical</a:t>
                      </a:r>
                      <a:endParaRPr lang="en-IN"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10.6</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142382024"/>
                  </a:ext>
                </a:extLst>
              </a:tr>
              <a:tr h="341119">
                <a:tc>
                  <a:txBody>
                    <a:bodyPr/>
                    <a:lstStyle/>
                    <a:p>
                      <a:pPr algn="ctr" fontAlgn="b">
                        <a:buNone/>
                      </a:pPr>
                      <a:r>
                        <a:rPr lang="en-IN" sz="1400" b="1" u="none" strike="noStrike" dirty="0">
                          <a:effectLst/>
                          <a:latin typeface="Calibri" panose="020F0502020204030204" pitchFamily="34" charset="0"/>
                          <a:ea typeface="Calibri" panose="020F0502020204030204" pitchFamily="34" charset="0"/>
                          <a:cs typeface="Calibri" panose="020F0502020204030204" pitchFamily="34" charset="0"/>
                        </a:rPr>
                        <a:t>Financial Services</a:t>
                      </a:r>
                      <a:endParaRPr lang="en-IN" sz="14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b="1" u="none" strike="noStrike" dirty="0">
                          <a:effectLst/>
                          <a:latin typeface="Calibri" panose="020F0502020204030204" pitchFamily="34" charset="0"/>
                          <a:ea typeface="Calibri" panose="020F0502020204030204" pitchFamily="34" charset="0"/>
                          <a:cs typeface="Calibri" panose="020F0502020204030204" pitchFamily="34" charset="0"/>
                        </a:rPr>
                        <a:t>34.97</a:t>
                      </a:r>
                      <a:endParaRPr lang="en-IN" sz="14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3555443461"/>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Real Estate</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0.32</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660629014"/>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Communication Services</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4.63</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518713863"/>
                  </a:ext>
                </a:extLst>
              </a:tr>
              <a:tr h="341119">
                <a:tc>
                  <a:txBody>
                    <a:bodyPr/>
                    <a:lstStyle/>
                    <a:p>
                      <a:pPr algn="ctr" fontAlgn="b">
                        <a:buNone/>
                      </a:pPr>
                      <a:r>
                        <a:rPr lang="en-IN" sz="1400" u="none" strike="noStrike">
                          <a:effectLst/>
                          <a:latin typeface="Calibri" panose="020F0502020204030204" pitchFamily="34" charset="0"/>
                          <a:ea typeface="Calibri" panose="020F0502020204030204" pitchFamily="34" charset="0"/>
                          <a:cs typeface="Calibri" panose="020F0502020204030204" pitchFamily="34" charset="0"/>
                        </a:rPr>
                        <a:t>Energy</a:t>
                      </a:r>
                      <a:endParaRPr lang="en-IN"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9.75</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862047283"/>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Industrials</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8.05</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1165016131"/>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Technology</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9.96</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38030315"/>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Consumer Defensive</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7.67</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1310188986"/>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Healthcare</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4.41</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452654689"/>
                  </a:ext>
                </a:extLst>
              </a:tr>
              <a:tr h="341119">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Utilities</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buNone/>
                      </a:pPr>
                      <a:r>
                        <a:rPr lang="en-IN" sz="1400" u="none" strike="noStrike" dirty="0">
                          <a:effectLst/>
                          <a:latin typeface="Calibri" panose="020F0502020204030204" pitchFamily="34" charset="0"/>
                          <a:ea typeface="Calibri" panose="020F0502020204030204" pitchFamily="34" charset="0"/>
                          <a:cs typeface="Calibri" panose="020F0502020204030204" pitchFamily="34" charset="0"/>
                        </a:rPr>
                        <a:t>3.26</a:t>
                      </a:r>
                      <a:endParaRPr lang="en-I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136437538"/>
                  </a:ext>
                </a:extLst>
              </a:tr>
            </a:tbl>
          </a:graphicData>
        </a:graphic>
      </p:graphicFrame>
    </p:spTree>
    <p:extLst>
      <p:ext uri="{BB962C8B-B14F-4D97-AF65-F5344CB8AC3E}">
        <p14:creationId xmlns:p14="http://schemas.microsoft.com/office/powerpoint/2010/main" val="304157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367F-F6A9-7F0C-B8D0-1461750055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34BFFD-0892-9A9F-BAC3-F16B17E35A62}"/>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0AD2539-0392-7C5F-248E-2AFA8BDAC4C6}"/>
              </a:ext>
            </a:extLst>
          </p:cNvPr>
          <p:cNvSpPr txBox="1"/>
          <p:nvPr/>
        </p:nvSpPr>
        <p:spPr>
          <a:xfrm>
            <a:off x="319177" y="232913"/>
            <a:ext cx="2794959"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Contents</a:t>
            </a:r>
          </a:p>
        </p:txBody>
      </p:sp>
      <p:graphicFrame>
        <p:nvGraphicFramePr>
          <p:cNvPr id="5" name="Table 4">
            <a:extLst>
              <a:ext uri="{FF2B5EF4-FFF2-40B4-BE49-F238E27FC236}">
                <a16:creationId xmlns:a16="http://schemas.microsoft.com/office/drawing/2014/main" id="{62DDE7BF-5A91-A2E8-8A50-56895AB24A07}"/>
              </a:ext>
            </a:extLst>
          </p:cNvPr>
          <p:cNvGraphicFramePr>
            <a:graphicFrameLocks noGrp="1"/>
          </p:cNvGraphicFramePr>
          <p:nvPr>
            <p:extLst>
              <p:ext uri="{D42A27DB-BD31-4B8C-83A1-F6EECF244321}">
                <p14:modId xmlns:p14="http://schemas.microsoft.com/office/powerpoint/2010/main" val="697194508"/>
              </p:ext>
            </p:extLst>
          </p:nvPr>
        </p:nvGraphicFramePr>
        <p:xfrm>
          <a:off x="3997864" y="2506012"/>
          <a:ext cx="4196272" cy="1845975"/>
        </p:xfrm>
        <a:graphic>
          <a:graphicData uri="http://schemas.openxmlformats.org/drawingml/2006/table">
            <a:tbl>
              <a:tblPr firstRow="1" bandRow="1">
                <a:tableStyleId>{5940675A-B579-460E-94D1-54222C63F5DA}</a:tableStyleId>
              </a:tblPr>
              <a:tblGrid>
                <a:gridCol w="538672">
                  <a:extLst>
                    <a:ext uri="{9D8B030D-6E8A-4147-A177-3AD203B41FA5}">
                      <a16:colId xmlns:a16="http://schemas.microsoft.com/office/drawing/2014/main" val="557149472"/>
                    </a:ext>
                  </a:extLst>
                </a:gridCol>
                <a:gridCol w="3657600">
                  <a:extLst>
                    <a:ext uri="{9D8B030D-6E8A-4147-A177-3AD203B41FA5}">
                      <a16:colId xmlns:a16="http://schemas.microsoft.com/office/drawing/2014/main" val="3743143216"/>
                    </a:ext>
                  </a:extLst>
                </a:gridCol>
              </a:tblGrid>
              <a:tr h="369195">
                <a:tc>
                  <a:txBody>
                    <a:bodyPr/>
                    <a:lstStyle/>
                    <a:p>
                      <a:pPr algn="ctr"/>
                      <a:r>
                        <a:rPr lang="en-IN" dirty="0">
                          <a:solidFill>
                            <a:schemeClr val="tx1"/>
                          </a:solidFill>
                          <a:latin typeface="Book Antiqua" panose="02040602050305030304" pitchFamily="18" charset="0"/>
                        </a:rPr>
                        <a:t>1</a:t>
                      </a:r>
                    </a:p>
                  </a:txBody>
                  <a:tcPr anchor="ctr">
                    <a:solidFill>
                      <a:schemeClr val="bg1"/>
                    </a:solidFill>
                  </a:tcPr>
                </a:tc>
                <a:tc>
                  <a:txBody>
                    <a:bodyPr/>
                    <a:lstStyle/>
                    <a:p>
                      <a:r>
                        <a:rPr lang="en-IN" dirty="0">
                          <a:solidFill>
                            <a:schemeClr val="tx1"/>
                          </a:solidFill>
                          <a:latin typeface="Book Antiqua" panose="02040602050305030304" pitchFamily="18" charset="0"/>
                        </a:rPr>
                        <a:t>Purpose</a:t>
                      </a:r>
                    </a:p>
                  </a:txBody>
                  <a:tcPr anchor="ctr">
                    <a:solidFill>
                      <a:schemeClr val="bg1"/>
                    </a:solidFill>
                  </a:tcPr>
                </a:tc>
                <a:extLst>
                  <a:ext uri="{0D108BD9-81ED-4DB2-BD59-A6C34878D82A}">
                    <a16:rowId xmlns:a16="http://schemas.microsoft.com/office/drawing/2014/main" val="1692968152"/>
                  </a:ext>
                </a:extLst>
              </a:tr>
              <a:tr h="369195">
                <a:tc>
                  <a:txBody>
                    <a:bodyPr/>
                    <a:lstStyle/>
                    <a:p>
                      <a:pPr algn="ctr"/>
                      <a:r>
                        <a:rPr lang="en-US" dirty="0">
                          <a:solidFill>
                            <a:schemeClr val="tx1"/>
                          </a:solidFill>
                          <a:latin typeface="Book Antiqua" panose="02040602050305030304" pitchFamily="18" charset="0"/>
                        </a:rPr>
                        <a:t>2</a:t>
                      </a:r>
                      <a:endParaRPr lang="en-IN" dirty="0">
                        <a:solidFill>
                          <a:schemeClr val="tx1"/>
                        </a:solidFill>
                        <a:latin typeface="Book Antiqua" panose="02040602050305030304" pitchFamily="18" charset="0"/>
                      </a:endParaRPr>
                    </a:p>
                  </a:txBody>
                  <a:tcPr anchor="ctr">
                    <a:solidFill>
                      <a:schemeClr val="bg1"/>
                    </a:solidFill>
                  </a:tcPr>
                </a:tc>
                <a:tc>
                  <a:txBody>
                    <a:bodyPr/>
                    <a:lstStyle/>
                    <a:p>
                      <a:r>
                        <a:rPr lang="en-US" dirty="0">
                          <a:solidFill>
                            <a:schemeClr val="tx1"/>
                          </a:solidFill>
                          <a:latin typeface="Book Antiqua" panose="02040602050305030304" pitchFamily="18" charset="0"/>
                        </a:rPr>
                        <a:t>About the Index</a:t>
                      </a:r>
                      <a:endParaRPr lang="en-IN" dirty="0">
                        <a:solidFill>
                          <a:schemeClr val="tx1"/>
                        </a:solidFill>
                        <a:latin typeface="Book Antiqua" panose="02040602050305030304" pitchFamily="18" charset="0"/>
                      </a:endParaRPr>
                    </a:p>
                  </a:txBody>
                  <a:tcPr anchor="ctr">
                    <a:solidFill>
                      <a:schemeClr val="bg1"/>
                    </a:solidFill>
                  </a:tcPr>
                </a:tc>
                <a:extLst>
                  <a:ext uri="{0D108BD9-81ED-4DB2-BD59-A6C34878D82A}">
                    <a16:rowId xmlns:a16="http://schemas.microsoft.com/office/drawing/2014/main" val="2861673122"/>
                  </a:ext>
                </a:extLst>
              </a:tr>
              <a:tr h="369195">
                <a:tc>
                  <a:txBody>
                    <a:bodyPr/>
                    <a:lstStyle/>
                    <a:p>
                      <a:pPr algn="ctr"/>
                      <a:r>
                        <a:rPr lang="en-US" dirty="0">
                          <a:solidFill>
                            <a:schemeClr val="bg1"/>
                          </a:solidFill>
                          <a:latin typeface="Book Antiqua" panose="02040602050305030304" pitchFamily="18" charset="0"/>
                        </a:rPr>
                        <a:t>3</a:t>
                      </a:r>
                      <a:endParaRPr lang="en-IN" dirty="0">
                        <a:solidFill>
                          <a:schemeClr val="bg1"/>
                        </a:solidFill>
                        <a:latin typeface="Book Antiqua" panose="02040602050305030304" pitchFamily="18" charset="0"/>
                      </a:endParaRPr>
                    </a:p>
                  </a:txBody>
                  <a:tcPr anchor="ctr">
                    <a:solidFill>
                      <a:schemeClr val="accent5">
                        <a:lumMod val="75000"/>
                      </a:schemeClr>
                    </a:solidFill>
                  </a:tcPr>
                </a:tc>
                <a:tc>
                  <a:txBody>
                    <a:bodyPr/>
                    <a:lstStyle/>
                    <a:p>
                      <a:r>
                        <a:rPr lang="en-IN" dirty="0">
                          <a:solidFill>
                            <a:schemeClr val="bg1"/>
                          </a:solidFill>
                          <a:latin typeface="Book Antiqua" panose="02040602050305030304" pitchFamily="18" charset="0"/>
                        </a:rPr>
                        <a:t>Approach and Methodology</a:t>
                      </a:r>
                    </a:p>
                  </a:txBody>
                  <a:tcPr anchor="ctr">
                    <a:solidFill>
                      <a:schemeClr val="accent5">
                        <a:lumMod val="75000"/>
                      </a:schemeClr>
                    </a:solidFill>
                  </a:tcPr>
                </a:tc>
                <a:extLst>
                  <a:ext uri="{0D108BD9-81ED-4DB2-BD59-A6C34878D82A}">
                    <a16:rowId xmlns:a16="http://schemas.microsoft.com/office/drawing/2014/main" val="4247924110"/>
                  </a:ext>
                </a:extLst>
              </a:tr>
              <a:tr h="369195">
                <a:tc>
                  <a:txBody>
                    <a:bodyPr/>
                    <a:lstStyle/>
                    <a:p>
                      <a:pPr algn="ctr"/>
                      <a:r>
                        <a:rPr lang="en-US" dirty="0">
                          <a:latin typeface="Book Antiqua" panose="02040602050305030304" pitchFamily="18" charset="0"/>
                        </a:rPr>
                        <a:t>4</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Valuation</a:t>
                      </a:r>
                    </a:p>
                  </a:txBody>
                  <a:tcPr anchor="ctr">
                    <a:noFill/>
                  </a:tcPr>
                </a:tc>
                <a:extLst>
                  <a:ext uri="{0D108BD9-81ED-4DB2-BD59-A6C34878D82A}">
                    <a16:rowId xmlns:a16="http://schemas.microsoft.com/office/drawing/2014/main" val="874068749"/>
                  </a:ext>
                </a:extLst>
              </a:tr>
              <a:tr h="369195">
                <a:tc>
                  <a:txBody>
                    <a:bodyPr/>
                    <a:lstStyle/>
                    <a:p>
                      <a:pPr algn="ctr"/>
                      <a:r>
                        <a:rPr lang="en-US" dirty="0">
                          <a:latin typeface="Book Antiqua" panose="02040602050305030304" pitchFamily="18" charset="0"/>
                        </a:rPr>
                        <a:t>5</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Sources and Disclaimer</a:t>
                      </a:r>
                    </a:p>
                  </a:txBody>
                  <a:tcPr anchor="ctr">
                    <a:noFill/>
                  </a:tcPr>
                </a:tc>
                <a:extLst>
                  <a:ext uri="{0D108BD9-81ED-4DB2-BD59-A6C34878D82A}">
                    <a16:rowId xmlns:a16="http://schemas.microsoft.com/office/drawing/2014/main" val="3519947632"/>
                  </a:ext>
                </a:extLst>
              </a:tr>
            </a:tbl>
          </a:graphicData>
        </a:graphic>
      </p:graphicFrame>
    </p:spTree>
    <p:extLst>
      <p:ext uri="{BB962C8B-B14F-4D97-AF65-F5344CB8AC3E}">
        <p14:creationId xmlns:p14="http://schemas.microsoft.com/office/powerpoint/2010/main" val="132694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1C949-1451-88DB-2D64-53E1902232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7BD2D7-4CB2-7B53-AC63-FC1E11BD6682}"/>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AEAFC4A-E58C-9EA3-006E-437EFD7DF8D1}"/>
              </a:ext>
            </a:extLst>
          </p:cNvPr>
          <p:cNvSpPr txBox="1"/>
          <p:nvPr/>
        </p:nvSpPr>
        <p:spPr>
          <a:xfrm>
            <a:off x="319177" y="232913"/>
            <a:ext cx="7427344"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3. Approach and Methodology</a:t>
            </a:r>
          </a:p>
        </p:txBody>
      </p:sp>
      <p:graphicFrame>
        <p:nvGraphicFramePr>
          <p:cNvPr id="4" name="Table 3">
            <a:extLst>
              <a:ext uri="{FF2B5EF4-FFF2-40B4-BE49-F238E27FC236}">
                <a16:creationId xmlns:a16="http://schemas.microsoft.com/office/drawing/2014/main" id="{1D8D46F1-D461-5448-0620-242372244E3F}"/>
              </a:ext>
            </a:extLst>
          </p:cNvPr>
          <p:cNvGraphicFramePr>
            <a:graphicFrameLocks noGrp="1"/>
          </p:cNvGraphicFramePr>
          <p:nvPr>
            <p:extLst>
              <p:ext uri="{D42A27DB-BD31-4B8C-83A1-F6EECF244321}">
                <p14:modId xmlns:p14="http://schemas.microsoft.com/office/powerpoint/2010/main" val="951209530"/>
              </p:ext>
            </p:extLst>
          </p:nvPr>
        </p:nvGraphicFramePr>
        <p:xfrm>
          <a:off x="319177" y="4702283"/>
          <a:ext cx="5776823" cy="1645920"/>
        </p:xfrm>
        <a:graphic>
          <a:graphicData uri="http://schemas.openxmlformats.org/drawingml/2006/table">
            <a:tbl>
              <a:tblPr firstRow="1" bandRow="1">
                <a:tableStyleId>{5940675A-B579-460E-94D1-54222C63F5DA}</a:tableStyleId>
              </a:tblPr>
              <a:tblGrid>
                <a:gridCol w="1614894">
                  <a:extLst>
                    <a:ext uri="{9D8B030D-6E8A-4147-A177-3AD203B41FA5}">
                      <a16:colId xmlns:a16="http://schemas.microsoft.com/office/drawing/2014/main" val="3012641116"/>
                    </a:ext>
                  </a:extLst>
                </a:gridCol>
                <a:gridCol w="1513327">
                  <a:extLst>
                    <a:ext uri="{9D8B030D-6E8A-4147-A177-3AD203B41FA5}">
                      <a16:colId xmlns:a16="http://schemas.microsoft.com/office/drawing/2014/main" val="1998866721"/>
                    </a:ext>
                  </a:extLst>
                </a:gridCol>
                <a:gridCol w="1553954">
                  <a:extLst>
                    <a:ext uri="{9D8B030D-6E8A-4147-A177-3AD203B41FA5}">
                      <a16:colId xmlns:a16="http://schemas.microsoft.com/office/drawing/2014/main" val="3408613534"/>
                    </a:ext>
                  </a:extLst>
                </a:gridCol>
                <a:gridCol w="1094648">
                  <a:extLst>
                    <a:ext uri="{9D8B030D-6E8A-4147-A177-3AD203B41FA5}">
                      <a16:colId xmlns:a16="http://schemas.microsoft.com/office/drawing/2014/main" val="3331543083"/>
                    </a:ext>
                  </a:extLst>
                </a:gridCol>
              </a:tblGrid>
              <a:tr h="271120">
                <a:tc>
                  <a:txBody>
                    <a:bodyPr/>
                    <a:lstStyle/>
                    <a:p>
                      <a:pPr algn="ct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P</a:t>
                      </a: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eriod</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Dividend Yield</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Buyback Yield</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Total Yield</a:t>
                      </a:r>
                    </a:p>
                  </a:txBody>
                  <a:tcPr anchor="ctr">
                    <a:solidFill>
                      <a:schemeClr val="accent5">
                        <a:lumMod val="75000"/>
                      </a:schemeClr>
                    </a:solidFill>
                  </a:tcPr>
                </a:tc>
                <a:extLst>
                  <a:ext uri="{0D108BD9-81ED-4DB2-BD59-A6C34878D82A}">
                    <a16:rowId xmlns:a16="http://schemas.microsoft.com/office/drawing/2014/main" val="940960034"/>
                  </a:ext>
                </a:extLst>
              </a:tr>
              <a:tr h="271120">
                <a:tc>
                  <a:txBody>
                    <a:bodyPr/>
                    <a:lstStyle/>
                    <a:p>
                      <a:pPr algn="ctr"/>
                      <a:r>
                        <a:rPr lang="en-IN" sz="1200" b="1" dirty="0">
                          <a:latin typeface="Calibri" panose="020F0502020204030204" pitchFamily="34" charset="0"/>
                          <a:ea typeface="Calibri" panose="020F0502020204030204" pitchFamily="34" charset="0"/>
                          <a:cs typeface="Calibri" panose="020F0502020204030204" pitchFamily="34" charset="0"/>
                        </a:rPr>
                        <a:t>20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1.18%</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0.29%</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1.47%</a:t>
                      </a:r>
                    </a:p>
                  </a:txBody>
                  <a:tcPr anchor="ctr"/>
                </a:tc>
                <a:extLst>
                  <a:ext uri="{0D108BD9-81ED-4DB2-BD59-A6C34878D82A}">
                    <a16:rowId xmlns:a16="http://schemas.microsoft.com/office/drawing/2014/main" val="625925920"/>
                  </a:ext>
                </a:extLst>
              </a:tr>
              <a:tr h="271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1.34%</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0.17%</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1.51%</a:t>
                      </a:r>
                    </a:p>
                  </a:txBody>
                  <a:tcPr anchor="ctr"/>
                </a:tc>
                <a:extLst>
                  <a:ext uri="{0D108BD9-81ED-4DB2-BD59-A6C34878D82A}">
                    <a16:rowId xmlns:a16="http://schemas.microsoft.com/office/drawing/2014/main" val="953569096"/>
                  </a:ext>
                </a:extLst>
              </a:tr>
              <a:tr h="271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1.12%</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0.23%</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1.45%</a:t>
                      </a:r>
                    </a:p>
                  </a:txBody>
                  <a:tcPr anchor="ctr"/>
                </a:tc>
                <a:extLst>
                  <a:ext uri="{0D108BD9-81ED-4DB2-BD59-A6C34878D82A}">
                    <a16:rowId xmlns:a16="http://schemas.microsoft.com/office/drawing/2014/main" val="3881872539"/>
                  </a:ext>
                </a:extLst>
              </a:tr>
              <a:tr h="271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1.24%</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0.19%</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1.43%</a:t>
                      </a:r>
                    </a:p>
                  </a:txBody>
                  <a:tcPr anchor="ctr"/>
                </a:tc>
                <a:extLst>
                  <a:ext uri="{0D108BD9-81ED-4DB2-BD59-A6C34878D82A}">
                    <a16:rowId xmlns:a16="http://schemas.microsoft.com/office/drawing/2014/main" val="3436480783"/>
                  </a:ext>
                </a:extLst>
              </a:tr>
              <a:tr h="2711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3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1.21%</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0.23%</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1.44%</a:t>
                      </a:r>
                    </a:p>
                  </a:txBody>
                  <a:tcPr anchor="ctr"/>
                </a:tc>
                <a:extLst>
                  <a:ext uri="{0D108BD9-81ED-4DB2-BD59-A6C34878D82A}">
                    <a16:rowId xmlns:a16="http://schemas.microsoft.com/office/drawing/2014/main" val="371565018"/>
                  </a:ext>
                </a:extLst>
              </a:tr>
            </a:tbl>
          </a:graphicData>
        </a:graphic>
      </p:graphicFrame>
      <p:graphicFrame>
        <p:nvGraphicFramePr>
          <p:cNvPr id="5" name="Chart 4">
            <a:extLst>
              <a:ext uri="{FF2B5EF4-FFF2-40B4-BE49-F238E27FC236}">
                <a16:creationId xmlns:a16="http://schemas.microsoft.com/office/drawing/2014/main" id="{5B9643DA-DAD1-4788-BB1C-ECCD39E12AE5}"/>
              </a:ext>
            </a:extLst>
          </p:cNvPr>
          <p:cNvGraphicFramePr>
            <a:graphicFrameLocks/>
          </p:cNvGraphicFramePr>
          <p:nvPr>
            <p:extLst>
              <p:ext uri="{D42A27DB-BD31-4B8C-83A1-F6EECF244321}">
                <p14:modId xmlns:p14="http://schemas.microsoft.com/office/powerpoint/2010/main" val="2501465863"/>
              </p:ext>
            </p:extLst>
          </p:nvPr>
        </p:nvGraphicFramePr>
        <p:xfrm>
          <a:off x="6409425" y="1483743"/>
          <a:ext cx="5463397" cy="486446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A809EE43-49F3-5B16-F087-980BF6C48ED9}"/>
              </a:ext>
            </a:extLst>
          </p:cNvPr>
          <p:cNvSpPr txBox="1"/>
          <p:nvPr/>
        </p:nvSpPr>
        <p:spPr>
          <a:xfrm>
            <a:off x="319177" y="1483743"/>
            <a:ext cx="5776823" cy="2893100"/>
          </a:xfrm>
          <a:prstGeom prst="rect">
            <a:avLst/>
          </a:prstGeom>
          <a:noFill/>
        </p:spPr>
        <p:txBody>
          <a:bodyPr wrap="square" rtlCol="0">
            <a:spAutoFit/>
          </a:bodyPr>
          <a:lstStyle/>
          <a:p>
            <a:pPr algn="just"/>
            <a:r>
              <a:rPr lang="en-IN" sz="1400" b="1" dirty="0">
                <a:latin typeface="Book Antiqua" panose="02040602050305030304" pitchFamily="18" charset="0"/>
                <a:ea typeface="Calibri" panose="020F0502020204030204" pitchFamily="34" charset="0"/>
                <a:cs typeface="Calibri" panose="020F0502020204030204" pitchFamily="34" charset="0"/>
              </a:rPr>
              <a:t>3.1 Expected Dividend &amp; Buybacks</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In a DCF framework, valuation is obtained by discounting Free Cash Flows to Equity (FCFE) at an appropriate rate. However, estimating FCFE for each constituent of the BSE 100 is operationally intensive. As an alternative, expected dividends and buybacks, which are economically equivalent to FCFE, are used as proxies based on historical patterns.</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Dividend data is readily available from the BSE, while buybacks are relatively infrequent among BSE 100 companies. Hence, buyback yield estimates consolidated by Professor Damodaran, based on buybacks relative to total earnings and dividends, are used. Given the negligible buyback activity in emerging markets such as India, its impact on valuation remains limited.</a:t>
            </a:r>
          </a:p>
        </p:txBody>
      </p:sp>
    </p:spTree>
    <p:extLst>
      <p:ext uri="{BB962C8B-B14F-4D97-AF65-F5344CB8AC3E}">
        <p14:creationId xmlns:p14="http://schemas.microsoft.com/office/powerpoint/2010/main" val="1709195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A559-8768-B892-BD13-E0CB84F7FD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DFE62B-AC07-32F3-9667-25E7AF65CBE1}"/>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246E5B0-33DD-EAB1-99AD-AC98ECEE5C61}"/>
              </a:ext>
            </a:extLst>
          </p:cNvPr>
          <p:cNvSpPr txBox="1"/>
          <p:nvPr/>
        </p:nvSpPr>
        <p:spPr>
          <a:xfrm>
            <a:off x="319177" y="232913"/>
            <a:ext cx="7427344"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3. Approach and Methodology</a:t>
            </a:r>
          </a:p>
        </p:txBody>
      </p:sp>
      <p:graphicFrame>
        <p:nvGraphicFramePr>
          <p:cNvPr id="4" name="Table 3">
            <a:extLst>
              <a:ext uri="{FF2B5EF4-FFF2-40B4-BE49-F238E27FC236}">
                <a16:creationId xmlns:a16="http://schemas.microsoft.com/office/drawing/2014/main" id="{86375259-2398-FF4F-FDBF-446C97CA53BA}"/>
              </a:ext>
            </a:extLst>
          </p:cNvPr>
          <p:cNvGraphicFramePr>
            <a:graphicFrameLocks noGrp="1"/>
          </p:cNvGraphicFramePr>
          <p:nvPr>
            <p:extLst>
              <p:ext uri="{D42A27DB-BD31-4B8C-83A1-F6EECF244321}">
                <p14:modId xmlns:p14="http://schemas.microsoft.com/office/powerpoint/2010/main" val="1317951562"/>
              </p:ext>
            </p:extLst>
          </p:nvPr>
        </p:nvGraphicFramePr>
        <p:xfrm>
          <a:off x="319178" y="4572000"/>
          <a:ext cx="5762444" cy="1664895"/>
        </p:xfrm>
        <a:graphic>
          <a:graphicData uri="http://schemas.openxmlformats.org/drawingml/2006/table">
            <a:tbl>
              <a:tblPr firstRow="1" bandRow="1">
                <a:tableStyleId>{5940675A-B579-460E-94D1-54222C63F5DA}</a:tableStyleId>
              </a:tblPr>
              <a:tblGrid>
                <a:gridCol w="2974770">
                  <a:extLst>
                    <a:ext uri="{9D8B030D-6E8A-4147-A177-3AD203B41FA5}">
                      <a16:colId xmlns:a16="http://schemas.microsoft.com/office/drawing/2014/main" val="3012641116"/>
                    </a:ext>
                  </a:extLst>
                </a:gridCol>
                <a:gridCol w="2787674">
                  <a:extLst>
                    <a:ext uri="{9D8B030D-6E8A-4147-A177-3AD203B41FA5}">
                      <a16:colId xmlns:a16="http://schemas.microsoft.com/office/drawing/2014/main" val="1998866721"/>
                    </a:ext>
                  </a:extLst>
                </a:gridCol>
              </a:tblGrid>
              <a:tr h="332979">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Compounded Years</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CAGR Earning Growth %</a:t>
                      </a:r>
                    </a:p>
                  </a:txBody>
                  <a:tcPr anchor="ctr">
                    <a:solidFill>
                      <a:schemeClr val="accent5">
                        <a:lumMod val="75000"/>
                      </a:schemeClr>
                    </a:solidFill>
                  </a:tcPr>
                </a:tc>
                <a:extLst>
                  <a:ext uri="{0D108BD9-81ED-4DB2-BD59-A6C34878D82A}">
                    <a16:rowId xmlns:a16="http://schemas.microsoft.com/office/drawing/2014/main" val="940960034"/>
                  </a:ext>
                </a:extLst>
              </a:tr>
              <a:tr h="3329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12.37%</a:t>
                      </a:r>
                    </a:p>
                  </a:txBody>
                  <a:tcPr anchor="ctr"/>
                </a:tc>
                <a:extLst>
                  <a:ext uri="{0D108BD9-81ED-4DB2-BD59-A6C34878D82A}">
                    <a16:rowId xmlns:a16="http://schemas.microsoft.com/office/drawing/2014/main" val="953569096"/>
                  </a:ext>
                </a:extLst>
              </a:tr>
              <a:tr h="3329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7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12.23%</a:t>
                      </a:r>
                    </a:p>
                  </a:txBody>
                  <a:tcPr anchor="ctr"/>
                </a:tc>
                <a:extLst>
                  <a:ext uri="{0D108BD9-81ED-4DB2-BD59-A6C34878D82A}">
                    <a16:rowId xmlns:a16="http://schemas.microsoft.com/office/drawing/2014/main" val="3881872539"/>
                  </a:ext>
                </a:extLst>
              </a:tr>
              <a:tr h="3329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11.59%</a:t>
                      </a:r>
                    </a:p>
                  </a:txBody>
                  <a:tcPr anchor="ctr"/>
                </a:tc>
                <a:extLst>
                  <a:ext uri="{0D108BD9-81ED-4DB2-BD59-A6C34878D82A}">
                    <a16:rowId xmlns:a16="http://schemas.microsoft.com/office/drawing/2014/main" val="3436480783"/>
                  </a:ext>
                </a:extLst>
              </a:tr>
              <a:tr h="3329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3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10.88%</a:t>
                      </a:r>
                    </a:p>
                  </a:txBody>
                  <a:tcPr anchor="ctr"/>
                </a:tc>
                <a:extLst>
                  <a:ext uri="{0D108BD9-81ED-4DB2-BD59-A6C34878D82A}">
                    <a16:rowId xmlns:a16="http://schemas.microsoft.com/office/drawing/2014/main" val="371565018"/>
                  </a:ext>
                </a:extLst>
              </a:tr>
            </a:tbl>
          </a:graphicData>
        </a:graphic>
      </p:graphicFrame>
      <p:sp>
        <p:nvSpPr>
          <p:cNvPr id="6" name="TextBox 5">
            <a:extLst>
              <a:ext uri="{FF2B5EF4-FFF2-40B4-BE49-F238E27FC236}">
                <a16:creationId xmlns:a16="http://schemas.microsoft.com/office/drawing/2014/main" id="{27DB454C-64A2-23FC-A494-3F57F9514B84}"/>
              </a:ext>
            </a:extLst>
          </p:cNvPr>
          <p:cNvSpPr txBox="1"/>
          <p:nvPr/>
        </p:nvSpPr>
        <p:spPr>
          <a:xfrm>
            <a:off x="319177" y="1483743"/>
            <a:ext cx="5762445" cy="2923877"/>
          </a:xfrm>
          <a:prstGeom prst="rect">
            <a:avLst/>
          </a:prstGeom>
          <a:noFill/>
        </p:spPr>
        <p:txBody>
          <a:bodyPr wrap="square" rtlCol="0">
            <a:spAutoFit/>
          </a:bodyPr>
          <a:lstStyle/>
          <a:p>
            <a:pPr algn="just"/>
            <a:r>
              <a:rPr lang="en-IN" sz="1400" b="1" dirty="0">
                <a:latin typeface="Book Antiqua" panose="02040602050305030304" pitchFamily="18" charset="0"/>
                <a:ea typeface="Calibri" panose="020F0502020204030204" pitchFamily="34" charset="0"/>
                <a:cs typeface="Calibri" panose="020F0502020204030204" pitchFamily="34" charset="0"/>
              </a:rPr>
              <a:t>3.2 Expected Growth in BSE 100 Earnings</a:t>
            </a:r>
          </a:p>
          <a:p>
            <a:pPr algn="just"/>
            <a:endParaRPr lang="en-IN" sz="16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The earnings of the BSE 100 can be derived by dividing the index level by its price-to-earnings ratio, to get a growth rate (CAGR) that justifies the earning trend in the constituent companies. Both the index level and PE ratio are sourced from the BSE website, allowing earnings and their growth to be estimated with limited additional analysis.</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r>
              <a:rPr lang="en-US" sz="1400" dirty="0">
                <a:latin typeface="Calibri" panose="020F0502020204030204" pitchFamily="34" charset="0"/>
                <a:ea typeface="Calibri" panose="020F0502020204030204" pitchFamily="34" charset="0"/>
                <a:cs typeface="Calibri" panose="020F0502020204030204" pitchFamily="34" charset="0"/>
              </a:rPr>
              <a:t>A key consideration is the choice of growth rate for valuation. As the difference between the 3-year and 10-year average compounded earnings growth is marginal (within ±1%), a 10-year compounded growth rate is adopted as it represents a better historical average and justifies the trend better over the years.</a:t>
            </a:r>
          </a:p>
        </p:txBody>
      </p:sp>
      <p:graphicFrame>
        <p:nvGraphicFramePr>
          <p:cNvPr id="7" name="Chart 6">
            <a:extLst>
              <a:ext uri="{FF2B5EF4-FFF2-40B4-BE49-F238E27FC236}">
                <a16:creationId xmlns:a16="http://schemas.microsoft.com/office/drawing/2014/main" id="{6378EC8C-F556-4EDD-837A-F64A5FEAC61D}"/>
              </a:ext>
            </a:extLst>
          </p:cNvPr>
          <p:cNvGraphicFramePr>
            <a:graphicFrameLocks/>
          </p:cNvGraphicFramePr>
          <p:nvPr>
            <p:extLst>
              <p:ext uri="{D42A27DB-BD31-4B8C-83A1-F6EECF244321}">
                <p14:modId xmlns:p14="http://schemas.microsoft.com/office/powerpoint/2010/main" val="2069723493"/>
              </p:ext>
            </p:extLst>
          </p:nvPr>
        </p:nvGraphicFramePr>
        <p:xfrm>
          <a:off x="6435306" y="1483743"/>
          <a:ext cx="5437517" cy="47531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57979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7F50F-208D-73C5-73D1-C36184E7BC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64C674A-4824-CE4E-4784-A7931B4E642B}"/>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D2A0A12-9DE8-2573-1215-6DE91F3B8675}"/>
              </a:ext>
            </a:extLst>
          </p:cNvPr>
          <p:cNvSpPr txBox="1"/>
          <p:nvPr/>
        </p:nvSpPr>
        <p:spPr>
          <a:xfrm>
            <a:off x="319177" y="232913"/>
            <a:ext cx="7427344"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3. Approach and Methodology</a:t>
            </a:r>
          </a:p>
        </p:txBody>
      </p:sp>
      <p:sp>
        <p:nvSpPr>
          <p:cNvPr id="6" name="TextBox 5">
            <a:extLst>
              <a:ext uri="{FF2B5EF4-FFF2-40B4-BE49-F238E27FC236}">
                <a16:creationId xmlns:a16="http://schemas.microsoft.com/office/drawing/2014/main" id="{97628354-E0A2-2E1C-4568-1A548AD5BD05}"/>
              </a:ext>
            </a:extLst>
          </p:cNvPr>
          <p:cNvSpPr txBox="1"/>
          <p:nvPr/>
        </p:nvSpPr>
        <p:spPr>
          <a:xfrm>
            <a:off x="319177" y="1483743"/>
            <a:ext cx="5762445" cy="2677656"/>
          </a:xfrm>
          <a:prstGeom prst="rect">
            <a:avLst/>
          </a:prstGeom>
          <a:noFill/>
        </p:spPr>
        <p:txBody>
          <a:bodyPr wrap="square" rtlCol="0">
            <a:spAutoFit/>
          </a:bodyPr>
          <a:lstStyle/>
          <a:p>
            <a:pPr algn="just"/>
            <a:r>
              <a:rPr lang="en-IN" sz="1400" b="1" dirty="0">
                <a:latin typeface="Book Antiqua" panose="02040602050305030304" pitchFamily="18" charset="0"/>
                <a:ea typeface="Calibri" panose="020F0502020204030204" pitchFamily="34" charset="0"/>
                <a:cs typeface="Calibri" panose="020F0502020204030204" pitchFamily="34" charset="0"/>
              </a:rPr>
              <a:t>3.3 Risk free Rate – 10 Yr Indian Government Bond Yield</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The risk-free rate is a fundamental input in DCF valuation and represents the opportunity cost of capital. Conventionally, the 10 Yr government bond yield is used as the risk-free rate. While this rate may be adjusted for country and default risk, limited historical data for emerging markets makes such adjustments challenging.</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The choice of an appropriate risk-free rate can be debated. Given that an emerging market like India experienced government bond yields as high as 12% during the 1990s, and to maintain a forward-looking perspective, the most recent available rate (January 2026) is used for valuation in this paper</a:t>
            </a:r>
            <a:r>
              <a:rPr lang="en-IN" sz="1400" dirty="0">
                <a:latin typeface="Calibri" panose="020F0502020204030204" pitchFamily="34" charset="0"/>
                <a:ea typeface="Calibri" panose="020F0502020204030204" pitchFamily="34" charset="0"/>
                <a:cs typeface="Calibri" panose="020F0502020204030204" pitchFamily="34" charset="0"/>
              </a:rPr>
              <a:t>.</a:t>
            </a:r>
          </a:p>
        </p:txBody>
      </p:sp>
      <p:graphicFrame>
        <p:nvGraphicFramePr>
          <p:cNvPr id="8" name="Table 7">
            <a:extLst>
              <a:ext uri="{FF2B5EF4-FFF2-40B4-BE49-F238E27FC236}">
                <a16:creationId xmlns:a16="http://schemas.microsoft.com/office/drawing/2014/main" id="{51FBACD3-B0D4-E119-964D-05F408CCAE62}"/>
              </a:ext>
            </a:extLst>
          </p:cNvPr>
          <p:cNvGraphicFramePr>
            <a:graphicFrameLocks noGrp="1"/>
          </p:cNvGraphicFramePr>
          <p:nvPr>
            <p:extLst>
              <p:ext uri="{D42A27DB-BD31-4B8C-83A1-F6EECF244321}">
                <p14:modId xmlns:p14="http://schemas.microsoft.com/office/powerpoint/2010/main" val="2162258344"/>
              </p:ext>
            </p:extLst>
          </p:nvPr>
        </p:nvGraphicFramePr>
        <p:xfrm>
          <a:off x="319175" y="4252823"/>
          <a:ext cx="5762445" cy="1944396"/>
        </p:xfrm>
        <a:graphic>
          <a:graphicData uri="http://schemas.openxmlformats.org/drawingml/2006/table">
            <a:tbl>
              <a:tblPr firstRow="1" bandRow="1">
                <a:tableStyleId>{5940675A-B579-460E-94D1-54222C63F5DA}</a:tableStyleId>
              </a:tblPr>
              <a:tblGrid>
                <a:gridCol w="2974770">
                  <a:extLst>
                    <a:ext uri="{9D8B030D-6E8A-4147-A177-3AD203B41FA5}">
                      <a16:colId xmlns:a16="http://schemas.microsoft.com/office/drawing/2014/main" val="3012641116"/>
                    </a:ext>
                  </a:extLst>
                </a:gridCol>
                <a:gridCol w="2787675">
                  <a:extLst>
                    <a:ext uri="{9D8B030D-6E8A-4147-A177-3AD203B41FA5}">
                      <a16:colId xmlns:a16="http://schemas.microsoft.com/office/drawing/2014/main" val="1998866721"/>
                    </a:ext>
                  </a:extLst>
                </a:gridCol>
              </a:tblGrid>
              <a:tr h="324066">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Compounded Years</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CAGR Earning Growth %</a:t>
                      </a:r>
                    </a:p>
                  </a:txBody>
                  <a:tcPr anchor="ctr">
                    <a:solidFill>
                      <a:schemeClr val="accent5">
                        <a:lumMod val="75000"/>
                      </a:schemeClr>
                    </a:solidFill>
                  </a:tcPr>
                </a:tc>
                <a:extLst>
                  <a:ext uri="{0D108BD9-81ED-4DB2-BD59-A6C34878D82A}">
                    <a16:rowId xmlns:a16="http://schemas.microsoft.com/office/drawing/2014/main" val="940960034"/>
                  </a:ext>
                </a:extLst>
              </a:tr>
              <a:tr h="3240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20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7.41%</a:t>
                      </a:r>
                    </a:p>
                  </a:txBody>
                  <a:tcPr anchor="ctr"/>
                </a:tc>
                <a:extLst>
                  <a:ext uri="{0D108BD9-81ED-4DB2-BD59-A6C34878D82A}">
                    <a16:rowId xmlns:a16="http://schemas.microsoft.com/office/drawing/2014/main" val="953569096"/>
                  </a:ext>
                </a:extLst>
              </a:tr>
              <a:tr h="3240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7.32%</a:t>
                      </a:r>
                    </a:p>
                  </a:txBody>
                  <a:tcPr anchor="ctr"/>
                </a:tc>
                <a:extLst>
                  <a:ext uri="{0D108BD9-81ED-4DB2-BD59-A6C34878D82A}">
                    <a16:rowId xmlns:a16="http://schemas.microsoft.com/office/drawing/2014/main" val="3881872539"/>
                  </a:ext>
                </a:extLst>
              </a:tr>
              <a:tr h="3240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6.72%</a:t>
                      </a:r>
                    </a:p>
                  </a:txBody>
                  <a:tcPr anchor="ctr"/>
                </a:tc>
                <a:extLst>
                  <a:ext uri="{0D108BD9-81ED-4DB2-BD59-A6C34878D82A}">
                    <a16:rowId xmlns:a16="http://schemas.microsoft.com/office/drawing/2014/main" val="3436480783"/>
                  </a:ext>
                </a:extLst>
              </a:tr>
              <a:tr h="3240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6.81%</a:t>
                      </a:r>
                    </a:p>
                  </a:txBody>
                  <a:tcPr anchor="ctr"/>
                </a:tc>
                <a:extLst>
                  <a:ext uri="{0D108BD9-81ED-4DB2-BD59-A6C34878D82A}">
                    <a16:rowId xmlns:a16="http://schemas.microsoft.com/office/drawing/2014/main" val="371565018"/>
                  </a:ext>
                </a:extLst>
              </a:tr>
              <a:tr h="3240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As on January 1, 2026</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6.6%</a:t>
                      </a:r>
                    </a:p>
                  </a:txBody>
                  <a:tcPr anchor="ctr"/>
                </a:tc>
                <a:extLst>
                  <a:ext uri="{0D108BD9-81ED-4DB2-BD59-A6C34878D82A}">
                    <a16:rowId xmlns:a16="http://schemas.microsoft.com/office/drawing/2014/main" val="331651634"/>
                  </a:ext>
                </a:extLst>
              </a:tr>
            </a:tbl>
          </a:graphicData>
        </a:graphic>
      </p:graphicFrame>
      <p:graphicFrame>
        <p:nvGraphicFramePr>
          <p:cNvPr id="9" name="Chart 8">
            <a:extLst>
              <a:ext uri="{FF2B5EF4-FFF2-40B4-BE49-F238E27FC236}">
                <a16:creationId xmlns:a16="http://schemas.microsoft.com/office/drawing/2014/main" id="{58044D22-52B9-5FA3-89E4-5ADBE0FD9C18}"/>
              </a:ext>
            </a:extLst>
          </p:cNvPr>
          <p:cNvGraphicFramePr>
            <a:graphicFrameLocks/>
          </p:cNvGraphicFramePr>
          <p:nvPr>
            <p:extLst>
              <p:ext uri="{D42A27DB-BD31-4B8C-83A1-F6EECF244321}">
                <p14:modId xmlns:p14="http://schemas.microsoft.com/office/powerpoint/2010/main" val="3852051224"/>
              </p:ext>
            </p:extLst>
          </p:nvPr>
        </p:nvGraphicFramePr>
        <p:xfrm>
          <a:off x="6556076" y="1483743"/>
          <a:ext cx="5316748" cy="47134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73245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E155C-6C31-3941-3D0E-097D8B5941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B2F3C4-A548-A1F1-B790-6B9AB08A10A7}"/>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1CB3E74-E617-9AF9-16E7-2A1DE4857DB7}"/>
              </a:ext>
            </a:extLst>
          </p:cNvPr>
          <p:cNvSpPr txBox="1"/>
          <p:nvPr/>
        </p:nvSpPr>
        <p:spPr>
          <a:xfrm>
            <a:off x="319177" y="232913"/>
            <a:ext cx="7427344"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3. Approach and Methodology</a:t>
            </a:r>
          </a:p>
        </p:txBody>
      </p:sp>
      <p:sp>
        <p:nvSpPr>
          <p:cNvPr id="6" name="TextBox 5">
            <a:extLst>
              <a:ext uri="{FF2B5EF4-FFF2-40B4-BE49-F238E27FC236}">
                <a16:creationId xmlns:a16="http://schemas.microsoft.com/office/drawing/2014/main" id="{0F0897D1-BD01-79FD-BC32-372B517A50C0}"/>
              </a:ext>
            </a:extLst>
          </p:cNvPr>
          <p:cNvSpPr txBox="1"/>
          <p:nvPr/>
        </p:nvSpPr>
        <p:spPr>
          <a:xfrm>
            <a:off x="319177" y="1483743"/>
            <a:ext cx="5762445" cy="2677656"/>
          </a:xfrm>
          <a:prstGeom prst="rect">
            <a:avLst/>
          </a:prstGeom>
          <a:noFill/>
        </p:spPr>
        <p:txBody>
          <a:bodyPr wrap="square" rtlCol="0">
            <a:spAutoFit/>
          </a:bodyPr>
          <a:lstStyle/>
          <a:p>
            <a:pPr algn="just"/>
            <a:r>
              <a:rPr lang="en-IN" sz="1400" b="1" dirty="0">
                <a:latin typeface="Book Antiqua" panose="02040602050305030304" pitchFamily="18" charset="0"/>
                <a:ea typeface="Calibri" panose="020F0502020204030204" pitchFamily="34" charset="0"/>
                <a:cs typeface="Calibri" panose="020F0502020204030204" pitchFamily="34" charset="0"/>
              </a:rPr>
              <a:t>3.4 Implied Equity Risk Premium (ERP)</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a:p>
            <a:pPr algn="just"/>
            <a:r>
              <a:rPr lang="en-IN" sz="1400" dirty="0">
                <a:latin typeface="Calibri" panose="020F0502020204030204" pitchFamily="34" charset="0"/>
                <a:ea typeface="Calibri" panose="020F0502020204030204" pitchFamily="34" charset="0"/>
                <a:cs typeface="Calibri" panose="020F0502020204030204" pitchFamily="34" charset="0"/>
              </a:rPr>
              <a:t>The equity risk premium is the additional return that’s expected on an index or portfolio of investments above the given risk-free rate. It is an incentivise for assuming risk beyond government bonds over equity markets in general. A higher ERP indicated a cautious market where the investors are defensive while investing in equities and represent their willingness to pay a lower price for the same cash flows and earnings. </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a:p>
            <a:pPr algn="just"/>
            <a:r>
              <a:rPr lang="en-IN" sz="1400" dirty="0">
                <a:latin typeface="Calibri" panose="020F0502020204030204" pitchFamily="34" charset="0"/>
                <a:ea typeface="Calibri" panose="020F0502020204030204" pitchFamily="34" charset="0"/>
                <a:cs typeface="Calibri" panose="020F0502020204030204" pitchFamily="34" charset="0"/>
              </a:rPr>
              <a:t>Implied ERP is reverse engineered by considering current index value and expected FCFEs. Here, again, the latest ERP seems like the best approach just like the risk-free rate</a:t>
            </a:r>
          </a:p>
        </p:txBody>
      </p:sp>
      <p:graphicFrame>
        <p:nvGraphicFramePr>
          <p:cNvPr id="8" name="Table 7">
            <a:extLst>
              <a:ext uri="{FF2B5EF4-FFF2-40B4-BE49-F238E27FC236}">
                <a16:creationId xmlns:a16="http://schemas.microsoft.com/office/drawing/2014/main" id="{862E679F-6313-3739-315D-E14CB929CEC0}"/>
              </a:ext>
            </a:extLst>
          </p:cNvPr>
          <p:cNvGraphicFramePr>
            <a:graphicFrameLocks noGrp="1"/>
          </p:cNvGraphicFramePr>
          <p:nvPr>
            <p:extLst>
              <p:ext uri="{D42A27DB-BD31-4B8C-83A1-F6EECF244321}">
                <p14:modId xmlns:p14="http://schemas.microsoft.com/office/powerpoint/2010/main" val="565370401"/>
              </p:ext>
            </p:extLst>
          </p:nvPr>
        </p:nvGraphicFramePr>
        <p:xfrm>
          <a:off x="319178" y="4252823"/>
          <a:ext cx="5776822" cy="2034516"/>
        </p:xfrm>
        <a:graphic>
          <a:graphicData uri="http://schemas.openxmlformats.org/drawingml/2006/table">
            <a:tbl>
              <a:tblPr firstRow="1" bandRow="1">
                <a:tableStyleId>{5940675A-B579-460E-94D1-54222C63F5DA}</a:tableStyleId>
              </a:tblPr>
              <a:tblGrid>
                <a:gridCol w="2982192">
                  <a:extLst>
                    <a:ext uri="{9D8B030D-6E8A-4147-A177-3AD203B41FA5}">
                      <a16:colId xmlns:a16="http://schemas.microsoft.com/office/drawing/2014/main" val="3012641116"/>
                    </a:ext>
                  </a:extLst>
                </a:gridCol>
                <a:gridCol w="2794630">
                  <a:extLst>
                    <a:ext uri="{9D8B030D-6E8A-4147-A177-3AD203B41FA5}">
                      <a16:colId xmlns:a16="http://schemas.microsoft.com/office/drawing/2014/main" val="1998866721"/>
                    </a:ext>
                  </a:extLst>
                </a:gridCol>
              </a:tblGrid>
              <a:tr h="339086">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Compounded Years</a:t>
                      </a:r>
                    </a:p>
                  </a:txBody>
                  <a:tcPr anchor="ctr">
                    <a:solidFill>
                      <a:schemeClr val="accent5">
                        <a:lumMod val="75000"/>
                      </a:schemeClr>
                    </a:solidFill>
                  </a:tcPr>
                </a:tc>
                <a:tc>
                  <a:txBody>
                    <a:bodyPr/>
                    <a:lstStyle/>
                    <a:p>
                      <a:pPr algn="ctr"/>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CAGR Earning Growth %</a:t>
                      </a:r>
                    </a:p>
                  </a:txBody>
                  <a:tcPr anchor="ctr">
                    <a:solidFill>
                      <a:schemeClr val="accent5">
                        <a:lumMod val="75000"/>
                      </a:schemeClr>
                    </a:solidFill>
                  </a:tcPr>
                </a:tc>
                <a:extLst>
                  <a:ext uri="{0D108BD9-81ED-4DB2-BD59-A6C34878D82A}">
                    <a16:rowId xmlns:a16="http://schemas.microsoft.com/office/drawing/2014/main" val="940960034"/>
                  </a:ext>
                </a:extLst>
              </a:tr>
              <a:tr h="339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20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2.51%</a:t>
                      </a:r>
                    </a:p>
                  </a:txBody>
                  <a:tcPr anchor="ctr"/>
                </a:tc>
                <a:extLst>
                  <a:ext uri="{0D108BD9-81ED-4DB2-BD59-A6C34878D82A}">
                    <a16:rowId xmlns:a16="http://schemas.microsoft.com/office/drawing/2014/main" val="953569096"/>
                  </a:ext>
                </a:extLst>
              </a:tr>
              <a:tr h="339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15 Years</a:t>
                      </a:r>
                    </a:p>
                  </a:txBody>
                  <a:tcPr anchor="ctr"/>
                </a:tc>
                <a:tc>
                  <a:txBody>
                    <a:bodyPr/>
                    <a:lstStyle/>
                    <a:p>
                      <a:pPr algn="ctr"/>
                      <a:r>
                        <a:rPr lang="en-US" sz="1200" dirty="0">
                          <a:latin typeface="Calibri" panose="020F0502020204030204" pitchFamily="34" charset="0"/>
                          <a:ea typeface="Calibri" panose="020F0502020204030204" pitchFamily="34" charset="0"/>
                          <a:cs typeface="Calibri" panose="020F0502020204030204" pitchFamily="34" charset="0"/>
                        </a:rPr>
                        <a:t>2.26%</a:t>
                      </a:r>
                      <a:endParaRPr lang="en-IN" sz="12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881872539"/>
                  </a:ext>
                </a:extLst>
              </a:tr>
              <a:tr h="339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7 Years</a:t>
                      </a:r>
                    </a:p>
                  </a:txBody>
                  <a:tcPr anchor="ctr"/>
                </a:tc>
                <a:tc>
                  <a:txBody>
                    <a:bodyPr/>
                    <a:lstStyle/>
                    <a:p>
                      <a:pPr algn="ctr"/>
                      <a:r>
                        <a:rPr lang="en-US" sz="1200" dirty="0">
                          <a:latin typeface="Calibri" panose="020F0502020204030204" pitchFamily="34" charset="0"/>
                          <a:ea typeface="Calibri" panose="020F0502020204030204" pitchFamily="34" charset="0"/>
                          <a:cs typeface="Calibri" panose="020F0502020204030204" pitchFamily="34" charset="0"/>
                        </a:rPr>
                        <a:t>1.79%</a:t>
                      </a:r>
                      <a:endParaRPr lang="en-IN" sz="12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436480783"/>
                  </a:ext>
                </a:extLst>
              </a:tr>
              <a:tr h="339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5 Years</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1.66%</a:t>
                      </a:r>
                    </a:p>
                  </a:txBody>
                  <a:tcPr anchor="ctr"/>
                </a:tc>
                <a:extLst>
                  <a:ext uri="{0D108BD9-81ED-4DB2-BD59-A6C34878D82A}">
                    <a16:rowId xmlns:a16="http://schemas.microsoft.com/office/drawing/2014/main" val="371565018"/>
                  </a:ext>
                </a:extLst>
              </a:tr>
              <a:tr h="339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ea typeface="Calibri" panose="020F0502020204030204" pitchFamily="34" charset="0"/>
                          <a:cs typeface="Calibri" panose="020F0502020204030204" pitchFamily="34" charset="0"/>
                        </a:rPr>
                        <a:t>Latest</a:t>
                      </a:r>
                    </a:p>
                  </a:txBody>
                  <a:tcPr anchor="ctr"/>
                </a:tc>
                <a:tc>
                  <a:txBody>
                    <a:bodyPr/>
                    <a:lstStyle/>
                    <a:p>
                      <a:pPr algn="ctr"/>
                      <a:r>
                        <a:rPr lang="en-IN" sz="1200" dirty="0">
                          <a:latin typeface="Calibri" panose="020F0502020204030204" pitchFamily="34" charset="0"/>
                          <a:ea typeface="Calibri" panose="020F0502020204030204" pitchFamily="34" charset="0"/>
                          <a:cs typeface="Calibri" panose="020F0502020204030204" pitchFamily="34" charset="0"/>
                        </a:rPr>
                        <a:t>2.70%</a:t>
                      </a:r>
                    </a:p>
                  </a:txBody>
                  <a:tcPr anchor="ctr"/>
                </a:tc>
                <a:extLst>
                  <a:ext uri="{0D108BD9-81ED-4DB2-BD59-A6C34878D82A}">
                    <a16:rowId xmlns:a16="http://schemas.microsoft.com/office/drawing/2014/main" val="331651634"/>
                  </a:ext>
                </a:extLst>
              </a:tr>
            </a:tbl>
          </a:graphicData>
        </a:graphic>
      </p:graphicFrame>
      <p:graphicFrame>
        <p:nvGraphicFramePr>
          <p:cNvPr id="4" name="Chart 3">
            <a:extLst>
              <a:ext uri="{FF2B5EF4-FFF2-40B4-BE49-F238E27FC236}">
                <a16:creationId xmlns:a16="http://schemas.microsoft.com/office/drawing/2014/main" id="{3795275A-4573-453C-86AE-700260E8A7E4}"/>
              </a:ext>
            </a:extLst>
          </p:cNvPr>
          <p:cNvGraphicFramePr>
            <a:graphicFrameLocks/>
          </p:cNvGraphicFramePr>
          <p:nvPr>
            <p:extLst>
              <p:ext uri="{D42A27DB-BD31-4B8C-83A1-F6EECF244321}">
                <p14:modId xmlns:p14="http://schemas.microsoft.com/office/powerpoint/2010/main" val="1394830315"/>
              </p:ext>
            </p:extLst>
          </p:nvPr>
        </p:nvGraphicFramePr>
        <p:xfrm>
          <a:off x="6573328" y="1483743"/>
          <a:ext cx="5299494" cy="48035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83479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D0EE2-ED4E-16BB-1B20-EA34F6ECE93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6021EC-2A68-9C0B-1A66-76B5B93D8312}"/>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12DA3D9-CBD7-F579-C006-B42187F2A1D0}"/>
              </a:ext>
            </a:extLst>
          </p:cNvPr>
          <p:cNvSpPr txBox="1"/>
          <p:nvPr/>
        </p:nvSpPr>
        <p:spPr>
          <a:xfrm>
            <a:off x="319177" y="232913"/>
            <a:ext cx="2794959"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Contents</a:t>
            </a:r>
          </a:p>
        </p:txBody>
      </p:sp>
      <p:graphicFrame>
        <p:nvGraphicFramePr>
          <p:cNvPr id="5" name="Table 4">
            <a:extLst>
              <a:ext uri="{FF2B5EF4-FFF2-40B4-BE49-F238E27FC236}">
                <a16:creationId xmlns:a16="http://schemas.microsoft.com/office/drawing/2014/main" id="{33C81948-F517-FB31-39EF-52C48ABE4AD4}"/>
              </a:ext>
            </a:extLst>
          </p:cNvPr>
          <p:cNvGraphicFramePr>
            <a:graphicFrameLocks noGrp="1"/>
          </p:cNvGraphicFramePr>
          <p:nvPr>
            <p:extLst>
              <p:ext uri="{D42A27DB-BD31-4B8C-83A1-F6EECF244321}">
                <p14:modId xmlns:p14="http://schemas.microsoft.com/office/powerpoint/2010/main" val="846476171"/>
              </p:ext>
            </p:extLst>
          </p:nvPr>
        </p:nvGraphicFramePr>
        <p:xfrm>
          <a:off x="3997864" y="2506012"/>
          <a:ext cx="4196272" cy="1845975"/>
        </p:xfrm>
        <a:graphic>
          <a:graphicData uri="http://schemas.openxmlformats.org/drawingml/2006/table">
            <a:tbl>
              <a:tblPr firstRow="1" bandRow="1">
                <a:tableStyleId>{5940675A-B579-460E-94D1-54222C63F5DA}</a:tableStyleId>
              </a:tblPr>
              <a:tblGrid>
                <a:gridCol w="538672">
                  <a:extLst>
                    <a:ext uri="{9D8B030D-6E8A-4147-A177-3AD203B41FA5}">
                      <a16:colId xmlns:a16="http://schemas.microsoft.com/office/drawing/2014/main" val="557149472"/>
                    </a:ext>
                  </a:extLst>
                </a:gridCol>
                <a:gridCol w="3657600">
                  <a:extLst>
                    <a:ext uri="{9D8B030D-6E8A-4147-A177-3AD203B41FA5}">
                      <a16:colId xmlns:a16="http://schemas.microsoft.com/office/drawing/2014/main" val="3743143216"/>
                    </a:ext>
                  </a:extLst>
                </a:gridCol>
              </a:tblGrid>
              <a:tr h="369195">
                <a:tc>
                  <a:txBody>
                    <a:bodyPr/>
                    <a:lstStyle/>
                    <a:p>
                      <a:pPr algn="ctr"/>
                      <a:r>
                        <a:rPr lang="en-IN" dirty="0">
                          <a:solidFill>
                            <a:schemeClr val="tx1"/>
                          </a:solidFill>
                          <a:latin typeface="Book Antiqua" panose="02040602050305030304" pitchFamily="18" charset="0"/>
                        </a:rPr>
                        <a:t>1</a:t>
                      </a:r>
                    </a:p>
                  </a:txBody>
                  <a:tcPr anchor="ctr">
                    <a:solidFill>
                      <a:schemeClr val="bg1"/>
                    </a:solidFill>
                  </a:tcPr>
                </a:tc>
                <a:tc>
                  <a:txBody>
                    <a:bodyPr/>
                    <a:lstStyle/>
                    <a:p>
                      <a:r>
                        <a:rPr lang="en-IN" dirty="0">
                          <a:solidFill>
                            <a:schemeClr val="tx1"/>
                          </a:solidFill>
                          <a:latin typeface="Book Antiqua" panose="02040602050305030304" pitchFamily="18" charset="0"/>
                        </a:rPr>
                        <a:t>Purpose</a:t>
                      </a:r>
                    </a:p>
                  </a:txBody>
                  <a:tcPr anchor="ctr">
                    <a:solidFill>
                      <a:schemeClr val="bg1"/>
                    </a:solidFill>
                  </a:tcPr>
                </a:tc>
                <a:extLst>
                  <a:ext uri="{0D108BD9-81ED-4DB2-BD59-A6C34878D82A}">
                    <a16:rowId xmlns:a16="http://schemas.microsoft.com/office/drawing/2014/main" val="1692968152"/>
                  </a:ext>
                </a:extLst>
              </a:tr>
              <a:tr h="369195">
                <a:tc>
                  <a:txBody>
                    <a:bodyPr/>
                    <a:lstStyle/>
                    <a:p>
                      <a:pPr algn="ctr"/>
                      <a:r>
                        <a:rPr lang="en-US" dirty="0">
                          <a:solidFill>
                            <a:schemeClr val="tx1"/>
                          </a:solidFill>
                          <a:latin typeface="Book Antiqua" panose="02040602050305030304" pitchFamily="18" charset="0"/>
                        </a:rPr>
                        <a:t>2</a:t>
                      </a:r>
                      <a:endParaRPr lang="en-IN" dirty="0">
                        <a:solidFill>
                          <a:schemeClr val="tx1"/>
                        </a:solidFill>
                        <a:latin typeface="Book Antiqua" panose="02040602050305030304" pitchFamily="18" charset="0"/>
                      </a:endParaRPr>
                    </a:p>
                  </a:txBody>
                  <a:tcPr anchor="ctr">
                    <a:solidFill>
                      <a:schemeClr val="bg1"/>
                    </a:solidFill>
                  </a:tcPr>
                </a:tc>
                <a:tc>
                  <a:txBody>
                    <a:bodyPr/>
                    <a:lstStyle/>
                    <a:p>
                      <a:r>
                        <a:rPr lang="en-US" dirty="0">
                          <a:solidFill>
                            <a:schemeClr val="tx1"/>
                          </a:solidFill>
                          <a:latin typeface="Book Antiqua" panose="02040602050305030304" pitchFamily="18" charset="0"/>
                        </a:rPr>
                        <a:t>About the Index</a:t>
                      </a:r>
                      <a:endParaRPr lang="en-IN" dirty="0">
                        <a:solidFill>
                          <a:schemeClr val="tx1"/>
                        </a:solidFill>
                        <a:latin typeface="Book Antiqua" panose="02040602050305030304" pitchFamily="18" charset="0"/>
                      </a:endParaRPr>
                    </a:p>
                  </a:txBody>
                  <a:tcPr anchor="ctr">
                    <a:solidFill>
                      <a:schemeClr val="bg1"/>
                    </a:solidFill>
                  </a:tcPr>
                </a:tc>
                <a:extLst>
                  <a:ext uri="{0D108BD9-81ED-4DB2-BD59-A6C34878D82A}">
                    <a16:rowId xmlns:a16="http://schemas.microsoft.com/office/drawing/2014/main" val="2861673122"/>
                  </a:ext>
                </a:extLst>
              </a:tr>
              <a:tr h="369195">
                <a:tc>
                  <a:txBody>
                    <a:bodyPr/>
                    <a:lstStyle/>
                    <a:p>
                      <a:pPr algn="ctr"/>
                      <a:r>
                        <a:rPr lang="en-US" dirty="0">
                          <a:latin typeface="Book Antiqua" panose="02040602050305030304" pitchFamily="18" charset="0"/>
                        </a:rPr>
                        <a:t>3</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Approach and Methodology</a:t>
                      </a:r>
                    </a:p>
                  </a:txBody>
                  <a:tcPr anchor="ctr">
                    <a:noFill/>
                  </a:tcPr>
                </a:tc>
                <a:extLst>
                  <a:ext uri="{0D108BD9-81ED-4DB2-BD59-A6C34878D82A}">
                    <a16:rowId xmlns:a16="http://schemas.microsoft.com/office/drawing/2014/main" val="4247924110"/>
                  </a:ext>
                </a:extLst>
              </a:tr>
              <a:tr h="369195">
                <a:tc>
                  <a:txBody>
                    <a:bodyPr/>
                    <a:lstStyle/>
                    <a:p>
                      <a:pPr algn="ctr"/>
                      <a:r>
                        <a:rPr lang="en-US" dirty="0">
                          <a:solidFill>
                            <a:schemeClr val="bg1"/>
                          </a:solidFill>
                          <a:latin typeface="Book Antiqua" panose="02040602050305030304" pitchFamily="18" charset="0"/>
                        </a:rPr>
                        <a:t>4</a:t>
                      </a:r>
                      <a:endParaRPr lang="en-IN" dirty="0">
                        <a:solidFill>
                          <a:schemeClr val="bg1"/>
                        </a:solidFill>
                        <a:latin typeface="Book Antiqua" panose="02040602050305030304" pitchFamily="18" charset="0"/>
                      </a:endParaRPr>
                    </a:p>
                  </a:txBody>
                  <a:tcPr anchor="ctr">
                    <a:solidFill>
                      <a:schemeClr val="accent5">
                        <a:lumMod val="75000"/>
                      </a:schemeClr>
                    </a:solidFill>
                  </a:tcPr>
                </a:tc>
                <a:tc>
                  <a:txBody>
                    <a:bodyPr/>
                    <a:lstStyle/>
                    <a:p>
                      <a:r>
                        <a:rPr lang="en-IN" dirty="0">
                          <a:solidFill>
                            <a:schemeClr val="bg1"/>
                          </a:solidFill>
                          <a:latin typeface="Book Antiqua" panose="02040602050305030304" pitchFamily="18" charset="0"/>
                        </a:rPr>
                        <a:t>Valuation</a:t>
                      </a:r>
                    </a:p>
                  </a:txBody>
                  <a:tcPr anchor="ctr">
                    <a:solidFill>
                      <a:schemeClr val="accent5">
                        <a:lumMod val="75000"/>
                      </a:schemeClr>
                    </a:solidFill>
                  </a:tcPr>
                </a:tc>
                <a:extLst>
                  <a:ext uri="{0D108BD9-81ED-4DB2-BD59-A6C34878D82A}">
                    <a16:rowId xmlns:a16="http://schemas.microsoft.com/office/drawing/2014/main" val="874068749"/>
                  </a:ext>
                </a:extLst>
              </a:tr>
              <a:tr h="369195">
                <a:tc>
                  <a:txBody>
                    <a:bodyPr/>
                    <a:lstStyle/>
                    <a:p>
                      <a:pPr algn="ctr"/>
                      <a:r>
                        <a:rPr lang="en-US" dirty="0">
                          <a:latin typeface="Book Antiqua" panose="02040602050305030304" pitchFamily="18" charset="0"/>
                        </a:rPr>
                        <a:t>5</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Sources and Disclaimer</a:t>
                      </a:r>
                    </a:p>
                  </a:txBody>
                  <a:tcPr anchor="ctr">
                    <a:noFill/>
                  </a:tcPr>
                </a:tc>
                <a:extLst>
                  <a:ext uri="{0D108BD9-81ED-4DB2-BD59-A6C34878D82A}">
                    <a16:rowId xmlns:a16="http://schemas.microsoft.com/office/drawing/2014/main" val="3519947632"/>
                  </a:ext>
                </a:extLst>
              </a:tr>
            </a:tbl>
          </a:graphicData>
        </a:graphic>
      </p:graphicFrame>
    </p:spTree>
    <p:extLst>
      <p:ext uri="{BB962C8B-B14F-4D97-AF65-F5344CB8AC3E}">
        <p14:creationId xmlns:p14="http://schemas.microsoft.com/office/powerpoint/2010/main" val="285048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ED60-6527-AFA2-5DF1-DEA735D333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EF1739-79A4-BFF1-8084-856454520965}"/>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FA5F9C1-7C20-01DF-8CF8-8A566E2EFB20}"/>
              </a:ext>
            </a:extLst>
          </p:cNvPr>
          <p:cNvSpPr txBox="1"/>
          <p:nvPr/>
        </p:nvSpPr>
        <p:spPr>
          <a:xfrm>
            <a:off x="319177" y="232913"/>
            <a:ext cx="3010619" cy="707886"/>
          </a:xfrm>
          <a:prstGeom prst="rect">
            <a:avLst/>
          </a:prstGeom>
          <a:noFill/>
        </p:spPr>
        <p:txBody>
          <a:bodyPr wrap="square" rtlCol="0">
            <a:spAutoFit/>
          </a:bodyPr>
          <a:lstStyle/>
          <a:p>
            <a:r>
              <a:rPr lang="en-US" sz="4000" dirty="0">
                <a:solidFill>
                  <a:schemeClr val="bg1"/>
                </a:solidFill>
                <a:latin typeface="Book Antiqua" panose="02040602050305030304" pitchFamily="18" charset="0"/>
              </a:rPr>
              <a:t>4. Valuation</a:t>
            </a:r>
            <a:endParaRPr lang="en-IN" sz="4000" dirty="0">
              <a:solidFill>
                <a:schemeClr val="bg1"/>
              </a:solidFill>
              <a:latin typeface="Book Antiqua" panose="02040602050305030304" pitchFamily="18" charset="0"/>
            </a:endParaRPr>
          </a:p>
        </p:txBody>
      </p:sp>
      <p:graphicFrame>
        <p:nvGraphicFramePr>
          <p:cNvPr id="4" name="Object 3">
            <a:extLst>
              <a:ext uri="{FF2B5EF4-FFF2-40B4-BE49-F238E27FC236}">
                <a16:creationId xmlns:a16="http://schemas.microsoft.com/office/drawing/2014/main" id="{B7060374-CC81-1C20-04BE-2A054F27F2BF}"/>
              </a:ext>
            </a:extLst>
          </p:cNvPr>
          <p:cNvGraphicFramePr>
            <a:graphicFrameLocks noChangeAspect="1"/>
          </p:cNvGraphicFramePr>
          <p:nvPr>
            <p:extLst>
              <p:ext uri="{D42A27DB-BD31-4B8C-83A1-F6EECF244321}">
                <p14:modId xmlns:p14="http://schemas.microsoft.com/office/powerpoint/2010/main" val="702958547"/>
              </p:ext>
            </p:extLst>
          </p:nvPr>
        </p:nvGraphicFramePr>
        <p:xfrm>
          <a:off x="1634235" y="1483743"/>
          <a:ext cx="8923527" cy="4761675"/>
        </p:xfrm>
        <a:graphic>
          <a:graphicData uri="http://schemas.openxmlformats.org/presentationml/2006/ole">
            <mc:AlternateContent xmlns:mc="http://schemas.openxmlformats.org/markup-compatibility/2006">
              <mc:Choice xmlns:v="urn:schemas-microsoft-com:vml" Requires="v">
                <p:oleObj name="Worksheet" r:id="rId2" imgW="9210878" imgH="4914703" progId="Excel.Sheet.12">
                  <p:embed/>
                </p:oleObj>
              </mc:Choice>
              <mc:Fallback>
                <p:oleObj name="Worksheet" r:id="rId2" imgW="9210878" imgH="4914703" progId="Excel.Sheet.12">
                  <p:embed/>
                  <p:pic>
                    <p:nvPicPr>
                      <p:cNvPr id="4" name="Object 3">
                        <a:extLst>
                          <a:ext uri="{FF2B5EF4-FFF2-40B4-BE49-F238E27FC236}">
                            <a16:creationId xmlns:a16="http://schemas.microsoft.com/office/drawing/2014/main" id="{B7060374-CC81-1C20-04BE-2A054F27F2BF}"/>
                          </a:ext>
                        </a:extLst>
                      </p:cNvPr>
                      <p:cNvPicPr/>
                      <p:nvPr/>
                    </p:nvPicPr>
                    <p:blipFill>
                      <a:blip r:embed="rId3"/>
                      <a:stretch>
                        <a:fillRect/>
                      </a:stretch>
                    </p:blipFill>
                    <p:spPr>
                      <a:xfrm>
                        <a:off x="1634235" y="1483743"/>
                        <a:ext cx="8923527" cy="4761675"/>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929DB6D6-F2CB-AB13-9D8C-EBB28A1F2336}"/>
              </a:ext>
            </a:extLst>
          </p:cNvPr>
          <p:cNvSpPr txBox="1"/>
          <p:nvPr/>
        </p:nvSpPr>
        <p:spPr>
          <a:xfrm>
            <a:off x="9044795" y="940799"/>
            <a:ext cx="3273726" cy="276999"/>
          </a:xfrm>
          <a:prstGeom prst="rect">
            <a:avLst/>
          </a:prstGeom>
          <a:noFill/>
        </p:spPr>
        <p:txBody>
          <a:bodyPr wrap="square" rtlCol="0">
            <a:spAutoFit/>
          </a:bodyPr>
          <a:lstStyle/>
          <a:p>
            <a:r>
              <a:rPr lang="en-IN" sz="1200" i="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This is a dynamic table, the rates are adjustable</a:t>
            </a:r>
          </a:p>
        </p:txBody>
      </p:sp>
      <p:sp>
        <p:nvSpPr>
          <p:cNvPr id="6" name="TextBox 5">
            <a:extLst>
              <a:ext uri="{FF2B5EF4-FFF2-40B4-BE49-F238E27FC236}">
                <a16:creationId xmlns:a16="http://schemas.microsoft.com/office/drawing/2014/main" id="{B42040F0-44FA-CF3A-DD80-59C5F9A3AB67}"/>
              </a:ext>
            </a:extLst>
          </p:cNvPr>
          <p:cNvSpPr txBox="1"/>
          <p:nvPr/>
        </p:nvSpPr>
        <p:spPr>
          <a:xfrm>
            <a:off x="1509624" y="6251120"/>
            <a:ext cx="9048138" cy="246221"/>
          </a:xfrm>
          <a:prstGeom prst="rect">
            <a:avLst/>
          </a:prstGeom>
          <a:noFill/>
        </p:spPr>
        <p:txBody>
          <a:bodyPr wrap="square" rtlCol="0">
            <a:spAutoFit/>
          </a:bodyPr>
          <a:lstStyle/>
          <a:p>
            <a:pPr algn="just"/>
            <a:r>
              <a:rPr lang="en-IN" sz="1000" i="1" dirty="0">
                <a:solidFill>
                  <a:schemeClr val="tx1">
                    <a:lumMod val="50000"/>
                    <a:lumOff val="50000"/>
                  </a:schemeClr>
                </a:solidFill>
              </a:rPr>
              <a:t>*The perpetual growth rate used in the calculation of the Terminal Value is 7.4%, which is the growth rate of GDP, representing the Indian economy’s growth rate</a:t>
            </a:r>
          </a:p>
        </p:txBody>
      </p:sp>
    </p:spTree>
    <p:extLst>
      <p:ext uri="{BB962C8B-B14F-4D97-AF65-F5344CB8AC3E}">
        <p14:creationId xmlns:p14="http://schemas.microsoft.com/office/powerpoint/2010/main" val="588709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D3279-E313-36FD-9963-BF88DF2547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B4F0F7-FD30-7ADC-69FD-6F814902DEE2}"/>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5CF9B67-C485-E794-ED84-D66E70F033C1}"/>
              </a:ext>
            </a:extLst>
          </p:cNvPr>
          <p:cNvSpPr txBox="1"/>
          <p:nvPr/>
        </p:nvSpPr>
        <p:spPr>
          <a:xfrm>
            <a:off x="319177" y="232913"/>
            <a:ext cx="2794959"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Contents</a:t>
            </a:r>
          </a:p>
        </p:txBody>
      </p:sp>
      <p:graphicFrame>
        <p:nvGraphicFramePr>
          <p:cNvPr id="5" name="Table 4">
            <a:extLst>
              <a:ext uri="{FF2B5EF4-FFF2-40B4-BE49-F238E27FC236}">
                <a16:creationId xmlns:a16="http://schemas.microsoft.com/office/drawing/2014/main" id="{E358D253-5D59-608D-C238-C2826F31042E}"/>
              </a:ext>
            </a:extLst>
          </p:cNvPr>
          <p:cNvGraphicFramePr>
            <a:graphicFrameLocks noGrp="1"/>
          </p:cNvGraphicFramePr>
          <p:nvPr>
            <p:extLst>
              <p:ext uri="{D42A27DB-BD31-4B8C-83A1-F6EECF244321}">
                <p14:modId xmlns:p14="http://schemas.microsoft.com/office/powerpoint/2010/main" val="3570803418"/>
              </p:ext>
            </p:extLst>
          </p:nvPr>
        </p:nvGraphicFramePr>
        <p:xfrm>
          <a:off x="3997864" y="2506012"/>
          <a:ext cx="4196272" cy="1845975"/>
        </p:xfrm>
        <a:graphic>
          <a:graphicData uri="http://schemas.openxmlformats.org/drawingml/2006/table">
            <a:tbl>
              <a:tblPr firstRow="1" bandRow="1">
                <a:tableStyleId>{5940675A-B579-460E-94D1-54222C63F5DA}</a:tableStyleId>
              </a:tblPr>
              <a:tblGrid>
                <a:gridCol w="538672">
                  <a:extLst>
                    <a:ext uri="{9D8B030D-6E8A-4147-A177-3AD203B41FA5}">
                      <a16:colId xmlns:a16="http://schemas.microsoft.com/office/drawing/2014/main" val="557149472"/>
                    </a:ext>
                  </a:extLst>
                </a:gridCol>
                <a:gridCol w="3657600">
                  <a:extLst>
                    <a:ext uri="{9D8B030D-6E8A-4147-A177-3AD203B41FA5}">
                      <a16:colId xmlns:a16="http://schemas.microsoft.com/office/drawing/2014/main" val="3743143216"/>
                    </a:ext>
                  </a:extLst>
                </a:gridCol>
              </a:tblGrid>
              <a:tr h="369195">
                <a:tc>
                  <a:txBody>
                    <a:bodyPr/>
                    <a:lstStyle/>
                    <a:p>
                      <a:pPr algn="ctr"/>
                      <a:r>
                        <a:rPr lang="en-IN" dirty="0">
                          <a:solidFill>
                            <a:schemeClr val="tx1"/>
                          </a:solidFill>
                          <a:latin typeface="Book Antiqua" panose="02040602050305030304" pitchFamily="18" charset="0"/>
                        </a:rPr>
                        <a:t>1</a:t>
                      </a:r>
                    </a:p>
                  </a:txBody>
                  <a:tcPr anchor="ctr">
                    <a:solidFill>
                      <a:schemeClr val="bg1"/>
                    </a:solidFill>
                  </a:tcPr>
                </a:tc>
                <a:tc>
                  <a:txBody>
                    <a:bodyPr/>
                    <a:lstStyle/>
                    <a:p>
                      <a:r>
                        <a:rPr lang="en-IN" dirty="0">
                          <a:solidFill>
                            <a:schemeClr val="tx1"/>
                          </a:solidFill>
                          <a:latin typeface="Book Antiqua" panose="02040602050305030304" pitchFamily="18" charset="0"/>
                        </a:rPr>
                        <a:t>Purpose</a:t>
                      </a:r>
                    </a:p>
                  </a:txBody>
                  <a:tcPr anchor="ctr">
                    <a:solidFill>
                      <a:schemeClr val="bg1"/>
                    </a:solidFill>
                  </a:tcPr>
                </a:tc>
                <a:extLst>
                  <a:ext uri="{0D108BD9-81ED-4DB2-BD59-A6C34878D82A}">
                    <a16:rowId xmlns:a16="http://schemas.microsoft.com/office/drawing/2014/main" val="1692968152"/>
                  </a:ext>
                </a:extLst>
              </a:tr>
              <a:tr h="369195">
                <a:tc>
                  <a:txBody>
                    <a:bodyPr/>
                    <a:lstStyle/>
                    <a:p>
                      <a:pPr algn="ctr"/>
                      <a:r>
                        <a:rPr lang="en-US" dirty="0">
                          <a:solidFill>
                            <a:schemeClr val="tx1"/>
                          </a:solidFill>
                          <a:latin typeface="Book Antiqua" panose="02040602050305030304" pitchFamily="18" charset="0"/>
                        </a:rPr>
                        <a:t>2</a:t>
                      </a:r>
                      <a:endParaRPr lang="en-IN" dirty="0">
                        <a:solidFill>
                          <a:schemeClr val="tx1"/>
                        </a:solidFill>
                        <a:latin typeface="Book Antiqua" panose="02040602050305030304" pitchFamily="18" charset="0"/>
                      </a:endParaRPr>
                    </a:p>
                  </a:txBody>
                  <a:tcPr anchor="ctr">
                    <a:solidFill>
                      <a:schemeClr val="bg1"/>
                    </a:solidFill>
                  </a:tcPr>
                </a:tc>
                <a:tc>
                  <a:txBody>
                    <a:bodyPr/>
                    <a:lstStyle/>
                    <a:p>
                      <a:r>
                        <a:rPr lang="en-US" dirty="0">
                          <a:solidFill>
                            <a:schemeClr val="tx1"/>
                          </a:solidFill>
                          <a:latin typeface="Book Antiqua" panose="02040602050305030304" pitchFamily="18" charset="0"/>
                        </a:rPr>
                        <a:t>About the Index</a:t>
                      </a:r>
                      <a:endParaRPr lang="en-IN" dirty="0">
                        <a:solidFill>
                          <a:schemeClr val="tx1"/>
                        </a:solidFill>
                        <a:latin typeface="Book Antiqua" panose="02040602050305030304" pitchFamily="18" charset="0"/>
                      </a:endParaRPr>
                    </a:p>
                  </a:txBody>
                  <a:tcPr anchor="ctr">
                    <a:solidFill>
                      <a:schemeClr val="bg1"/>
                    </a:solidFill>
                  </a:tcPr>
                </a:tc>
                <a:extLst>
                  <a:ext uri="{0D108BD9-81ED-4DB2-BD59-A6C34878D82A}">
                    <a16:rowId xmlns:a16="http://schemas.microsoft.com/office/drawing/2014/main" val="2861673122"/>
                  </a:ext>
                </a:extLst>
              </a:tr>
              <a:tr h="369195">
                <a:tc>
                  <a:txBody>
                    <a:bodyPr/>
                    <a:lstStyle/>
                    <a:p>
                      <a:pPr algn="ctr"/>
                      <a:r>
                        <a:rPr lang="en-US" dirty="0">
                          <a:latin typeface="Book Antiqua" panose="02040602050305030304" pitchFamily="18" charset="0"/>
                        </a:rPr>
                        <a:t>3</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Approach and Methodology</a:t>
                      </a:r>
                    </a:p>
                  </a:txBody>
                  <a:tcPr anchor="ctr">
                    <a:noFill/>
                  </a:tcPr>
                </a:tc>
                <a:extLst>
                  <a:ext uri="{0D108BD9-81ED-4DB2-BD59-A6C34878D82A}">
                    <a16:rowId xmlns:a16="http://schemas.microsoft.com/office/drawing/2014/main" val="4247924110"/>
                  </a:ext>
                </a:extLst>
              </a:tr>
              <a:tr h="369195">
                <a:tc>
                  <a:txBody>
                    <a:bodyPr/>
                    <a:lstStyle/>
                    <a:p>
                      <a:pPr algn="ctr"/>
                      <a:r>
                        <a:rPr lang="en-US" dirty="0">
                          <a:latin typeface="Book Antiqua" panose="02040602050305030304" pitchFamily="18" charset="0"/>
                        </a:rPr>
                        <a:t>4</a:t>
                      </a:r>
                      <a:endParaRPr lang="en-IN" dirty="0">
                        <a:latin typeface="Book Antiqua" panose="02040602050305030304" pitchFamily="18" charset="0"/>
                      </a:endParaRPr>
                    </a:p>
                  </a:txBody>
                  <a:tcPr anchor="ctr">
                    <a:noFill/>
                  </a:tcPr>
                </a:tc>
                <a:tc>
                  <a:txBody>
                    <a:bodyPr/>
                    <a:lstStyle/>
                    <a:p>
                      <a:r>
                        <a:rPr lang="en-IN" dirty="0">
                          <a:latin typeface="Book Antiqua" panose="02040602050305030304" pitchFamily="18" charset="0"/>
                        </a:rPr>
                        <a:t>Valuation</a:t>
                      </a:r>
                    </a:p>
                  </a:txBody>
                  <a:tcPr anchor="ctr">
                    <a:noFill/>
                  </a:tcPr>
                </a:tc>
                <a:extLst>
                  <a:ext uri="{0D108BD9-81ED-4DB2-BD59-A6C34878D82A}">
                    <a16:rowId xmlns:a16="http://schemas.microsoft.com/office/drawing/2014/main" val="874068749"/>
                  </a:ext>
                </a:extLst>
              </a:tr>
              <a:tr h="369195">
                <a:tc>
                  <a:txBody>
                    <a:bodyPr/>
                    <a:lstStyle/>
                    <a:p>
                      <a:pPr algn="ctr"/>
                      <a:r>
                        <a:rPr lang="en-US" dirty="0">
                          <a:solidFill>
                            <a:schemeClr val="bg1"/>
                          </a:solidFill>
                          <a:latin typeface="Book Antiqua" panose="02040602050305030304" pitchFamily="18" charset="0"/>
                        </a:rPr>
                        <a:t>5</a:t>
                      </a:r>
                      <a:endParaRPr lang="en-IN" dirty="0">
                        <a:solidFill>
                          <a:schemeClr val="bg1"/>
                        </a:solidFill>
                        <a:latin typeface="Book Antiqua" panose="02040602050305030304" pitchFamily="18" charset="0"/>
                      </a:endParaRPr>
                    </a:p>
                  </a:txBody>
                  <a:tcPr anchor="ctr">
                    <a:solidFill>
                      <a:schemeClr val="accent5">
                        <a:lumMod val="75000"/>
                      </a:schemeClr>
                    </a:solidFill>
                  </a:tcPr>
                </a:tc>
                <a:tc>
                  <a:txBody>
                    <a:bodyPr/>
                    <a:lstStyle/>
                    <a:p>
                      <a:r>
                        <a:rPr lang="en-IN" dirty="0">
                          <a:solidFill>
                            <a:schemeClr val="bg1"/>
                          </a:solidFill>
                          <a:latin typeface="Book Antiqua" panose="02040602050305030304" pitchFamily="18" charset="0"/>
                        </a:rPr>
                        <a:t>Acknowledgement and Sources</a:t>
                      </a:r>
                    </a:p>
                  </a:txBody>
                  <a:tcPr anchor="ctr">
                    <a:solidFill>
                      <a:schemeClr val="accent5">
                        <a:lumMod val="75000"/>
                      </a:schemeClr>
                    </a:solidFill>
                  </a:tcPr>
                </a:tc>
                <a:extLst>
                  <a:ext uri="{0D108BD9-81ED-4DB2-BD59-A6C34878D82A}">
                    <a16:rowId xmlns:a16="http://schemas.microsoft.com/office/drawing/2014/main" val="3519947632"/>
                  </a:ext>
                </a:extLst>
              </a:tr>
            </a:tbl>
          </a:graphicData>
        </a:graphic>
      </p:graphicFrame>
    </p:spTree>
    <p:extLst>
      <p:ext uri="{BB962C8B-B14F-4D97-AF65-F5344CB8AC3E}">
        <p14:creationId xmlns:p14="http://schemas.microsoft.com/office/powerpoint/2010/main" val="2017883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927FC-7414-0BFD-1662-B6CEAFABA8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3946E3-B5A6-E187-A148-4A068E5D8206}"/>
              </a:ext>
            </a:extLst>
          </p:cNvPr>
          <p:cNvSpPr/>
          <p:nvPr/>
        </p:nvSpPr>
        <p:spPr>
          <a:xfrm>
            <a:off x="0" y="0"/>
            <a:ext cx="12192001" cy="125083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0C6A6D1-3FDC-65A8-4CE0-090A194C737A}"/>
              </a:ext>
            </a:extLst>
          </p:cNvPr>
          <p:cNvSpPr txBox="1"/>
          <p:nvPr/>
        </p:nvSpPr>
        <p:spPr>
          <a:xfrm>
            <a:off x="319177" y="232913"/>
            <a:ext cx="9264770" cy="707886"/>
          </a:xfrm>
          <a:prstGeom prst="rect">
            <a:avLst/>
          </a:prstGeom>
          <a:noFill/>
        </p:spPr>
        <p:txBody>
          <a:bodyPr wrap="square" rtlCol="0">
            <a:spAutoFit/>
          </a:bodyPr>
          <a:lstStyle/>
          <a:p>
            <a:r>
              <a:rPr lang="en-IN" sz="4000" dirty="0">
                <a:solidFill>
                  <a:schemeClr val="bg1"/>
                </a:solidFill>
                <a:latin typeface="Book Antiqua" panose="02040602050305030304" pitchFamily="18" charset="0"/>
              </a:rPr>
              <a:t>5. Acknowledgment and Sources</a:t>
            </a:r>
          </a:p>
        </p:txBody>
      </p:sp>
      <p:sp>
        <p:nvSpPr>
          <p:cNvPr id="4" name="TextBox 3">
            <a:extLst>
              <a:ext uri="{FF2B5EF4-FFF2-40B4-BE49-F238E27FC236}">
                <a16:creationId xmlns:a16="http://schemas.microsoft.com/office/drawing/2014/main" id="{101C340F-59AA-710D-E0D5-491654A9F2AB}"/>
              </a:ext>
            </a:extLst>
          </p:cNvPr>
          <p:cNvSpPr txBox="1"/>
          <p:nvPr/>
        </p:nvSpPr>
        <p:spPr>
          <a:xfrm>
            <a:off x="319177" y="1483743"/>
            <a:ext cx="11524892" cy="4832092"/>
          </a:xfrm>
          <a:prstGeom prst="rect">
            <a:avLst/>
          </a:prstGeom>
          <a:noFill/>
        </p:spPr>
        <p:txBody>
          <a:bodyPr wrap="square" rtlCol="0">
            <a:spAutoFit/>
          </a:bodyPr>
          <a:lstStyle/>
          <a:p>
            <a:r>
              <a:rPr lang="en-IN" sz="1400" b="1" dirty="0">
                <a:latin typeface="Book Antiqua" panose="02040602050305030304" pitchFamily="18" charset="0"/>
                <a:ea typeface="Calibri" panose="020F0502020204030204" pitchFamily="34" charset="0"/>
                <a:cs typeface="Calibri" panose="020F0502020204030204" pitchFamily="34" charset="0"/>
              </a:rPr>
              <a:t>5.1 Acknowledgment</a:t>
            </a:r>
            <a:br>
              <a:rPr lang="en-IN" sz="1400" b="1" dirty="0">
                <a:latin typeface="Calibri" panose="020F0502020204030204" pitchFamily="34" charset="0"/>
                <a:ea typeface="Calibri" panose="020F0502020204030204" pitchFamily="34" charset="0"/>
                <a:cs typeface="Calibri" panose="020F0502020204030204" pitchFamily="34" charset="0"/>
              </a:rPr>
            </a:br>
            <a:r>
              <a:rPr lang="en-IN" sz="1400" b="1" dirty="0">
                <a:latin typeface="Calibri" panose="020F0502020204030204" pitchFamily="34" charset="0"/>
                <a:ea typeface="Calibri" panose="020F0502020204030204" pitchFamily="34" charset="0"/>
                <a:cs typeface="Calibri" panose="020F0502020204030204" pitchFamily="34" charset="0"/>
              </a:rPr>
              <a:t>Report Prepared by: </a:t>
            </a:r>
            <a:r>
              <a:rPr lang="en-IN" sz="1400" dirty="0">
                <a:latin typeface="Calibri" panose="020F0502020204030204" pitchFamily="34" charset="0"/>
                <a:ea typeface="Calibri" panose="020F0502020204030204" pitchFamily="34" charset="0"/>
                <a:cs typeface="Calibri" panose="020F0502020204030204" pitchFamily="34" charset="0"/>
              </a:rPr>
              <a:t>Karn Sharma</a:t>
            </a:r>
          </a:p>
          <a:p>
            <a:r>
              <a:rPr lang="en-IN" sz="1400" b="1" dirty="0">
                <a:latin typeface="Calibri" panose="020F0502020204030204" pitchFamily="34" charset="0"/>
                <a:ea typeface="Calibri" panose="020F0502020204030204" pitchFamily="34" charset="0"/>
                <a:cs typeface="Calibri" panose="020F0502020204030204" pitchFamily="34" charset="0"/>
              </a:rPr>
              <a:t>Guided by: </a:t>
            </a:r>
            <a:r>
              <a:rPr lang="en-IN" sz="1400" dirty="0">
                <a:latin typeface="Calibri" panose="020F0502020204030204" pitchFamily="34" charset="0"/>
                <a:ea typeface="Calibri" panose="020F0502020204030204" pitchFamily="34" charset="0"/>
                <a:cs typeface="Calibri" panose="020F0502020204030204" pitchFamily="34" charset="0"/>
              </a:rPr>
              <a:t>Parth Verma (Founder of The Valuation School)</a:t>
            </a:r>
          </a:p>
          <a:p>
            <a:endParaRPr lang="en-IN" sz="1400" dirty="0">
              <a:latin typeface="Calibri" panose="020F0502020204030204" pitchFamily="34" charset="0"/>
              <a:ea typeface="Calibri" panose="020F0502020204030204" pitchFamily="34" charset="0"/>
              <a:cs typeface="Calibri" panose="020F0502020204030204" pitchFamily="34" charset="0"/>
            </a:endParaRPr>
          </a:p>
          <a:p>
            <a:r>
              <a:rPr lang="en-IN" sz="1400" b="1" dirty="0">
                <a:latin typeface="Book Antiqua" panose="02040602050305030304" pitchFamily="18" charset="0"/>
                <a:ea typeface="Calibri" panose="020F0502020204030204" pitchFamily="34" charset="0"/>
                <a:cs typeface="Calibri" panose="020F0502020204030204" pitchFamily="34" charset="0"/>
              </a:rPr>
              <a:t>5.2 Sources</a:t>
            </a:r>
            <a:endParaRPr lang="en-IN" sz="1400" dirty="0">
              <a:latin typeface="Book Antiqua" panose="02040602050305030304" pitchFamily="18"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2"/>
              </a:rPr>
              <a:t>https://in.investing.com/</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3"/>
              </a:rPr>
              <a:t>https://www.bseindia.com/</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4"/>
              </a:rPr>
              <a:t>https://www.morningstar.in/</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5"/>
              </a:rPr>
              <a:t>https://www.market-risk-premia.com/</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Research Paper: “Estimating Risk-Free Rates” by Prof. Aswath Damodaran </a:t>
            </a: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6"/>
              </a:rPr>
              <a:t>https://www.screener.in/</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hlinkClick r:id="rId7"/>
              </a:rPr>
              <a:t>https://www.moneycontrol.com/</a:t>
            </a:r>
            <a:endParaRPr lang="en-IN"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sz="1400" dirty="0">
              <a:latin typeface="Calibri" panose="020F0502020204030204" pitchFamily="34" charset="0"/>
              <a:ea typeface="Calibri" panose="020F0502020204030204" pitchFamily="34" charset="0"/>
              <a:cs typeface="Calibri" panose="020F0502020204030204" pitchFamily="34" charset="0"/>
            </a:endParaRPr>
          </a:p>
          <a:p>
            <a:r>
              <a:rPr lang="en-IN" sz="1400" b="1" dirty="0">
                <a:latin typeface="Book Antiqua" panose="02040602050305030304" pitchFamily="18" charset="0"/>
                <a:ea typeface="Calibri" panose="020F0502020204030204" pitchFamily="34" charset="0"/>
                <a:cs typeface="Calibri" panose="020F0502020204030204" pitchFamily="34" charset="0"/>
              </a:rPr>
              <a:t>5.3 Disclaimer</a:t>
            </a:r>
          </a:p>
          <a:p>
            <a:r>
              <a:rPr lang="en-US" sz="1400" dirty="0">
                <a:latin typeface="Calibri" panose="020F0502020204030204" pitchFamily="34" charset="0"/>
                <a:ea typeface="Calibri" panose="020F0502020204030204" pitchFamily="34" charset="0"/>
                <a:cs typeface="Calibri" panose="020F0502020204030204" pitchFamily="34" charset="0"/>
              </a:rPr>
              <a:t>This index valuation report and the accompanying model have been prepared solely for academic and informational purposes. They do not constitute investment advice, a recommendation, or an offer to buy or sell any securities or financial instruments. The valuation framework, assumptions, parameters, and methodologies employed are inherently subjective and reflect the author’s judgment based on publicly available information and data accessible at the time of analysis. Actual market outcomes may differ materially due to changes in economic conditions, market dynamics, data revisions, or other unforeseen factors. No representation or warranty is made regarding the accuracy, completeness, or reliability of the analysis, and the author accepts no responsibility for any losses arising from reliance on this report.</a:t>
            </a:r>
            <a:endParaRPr lang="en-IN" sz="1400" b="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3087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596</TotalTime>
  <Words>1443</Words>
  <Application>Microsoft Office PowerPoint</Application>
  <PresentationFormat>Widescreen</PresentationFormat>
  <Paragraphs>214</Paragraphs>
  <Slides>15</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Aptos</vt:lpstr>
      <vt:lpstr>Aptos Display</vt:lpstr>
      <vt:lpstr>Arial</vt:lpstr>
      <vt:lpstr>Book Antiqua</vt:lpstr>
      <vt:lpstr>Calibri</vt:lpstr>
      <vt:lpstr>Office Theme</vt:lpstr>
      <vt:lpstr>Worksheet</vt:lpstr>
      <vt:lpstr>Valuing S&amp;P BSE 100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Karn Sharma</dc:creator>
  <cp:lastModifiedBy>Karn Sharma</cp:lastModifiedBy>
  <cp:revision>1</cp:revision>
  <dcterms:created xsi:type="dcterms:W3CDTF">2026-01-04T16:36:46Z</dcterms:created>
  <dcterms:modified xsi:type="dcterms:W3CDTF">2026-01-14T06:11:11Z</dcterms:modified>
</cp:coreProperties>
</file>